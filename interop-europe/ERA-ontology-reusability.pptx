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1"/>
  </p:normalViewPr>
  <p:slideViewPr>
    <p:cSldViewPr snapToGrid="0" snapToObjects="1">
      <p:cViewPr varScale="1">
        <p:scale>
          <a:sx n="105" d="100"/>
          <a:sy n="105" d="100"/>
        </p:scale>
        <p:origin x="74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E4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1783080"/>
            <a:ext cx="8778240" cy="960120"/>
          </a:xfrm>
          <a:prstGeom prst="rect">
            <a:avLst/>
          </a:prstGeom>
          <a:noFill/>
        </p:spPr>
        <p:txBody>
          <a:bodyPr wrap="square" lIns="0" tIns="0" rIns="0" bIns="0">
            <a:spAutoFit/>
          </a:bodyPr>
          <a:lstStyle/>
          <a:p>
            <a:pPr algn="l">
              <a:lnSpc>
                <a:spcPct val="102000"/>
              </a:lnSpc>
              <a:spcAft>
                <a:spcPts val="200"/>
              </a:spcAft>
            </a:pPr>
            <a:r>
              <a:rPr sz="4600" b="0" i="0">
                <a:solidFill>
                  <a:srgbClr val="FFFFFF"/>
                </a:solidFill>
                <a:latin typeface="Calibri"/>
              </a:rPr>
              <a:t>Reusing the </a:t>
            </a:r>
            <a:r>
              <a:rPr sz="4600" b="1" i="0">
                <a:solidFill>
                  <a:srgbClr val="FFFFFF"/>
                </a:solidFill>
                <a:latin typeface="Calibri"/>
              </a:rPr>
              <a:t>ERA Ontology</a:t>
            </a:r>
          </a:p>
        </p:txBody>
      </p:sp>
      <p:sp>
        <p:nvSpPr>
          <p:cNvPr id="4" name="TextBox 3"/>
          <p:cNvSpPr txBox="1"/>
          <p:nvPr/>
        </p:nvSpPr>
        <p:spPr>
          <a:xfrm>
            <a:off x="868680" y="2788920"/>
            <a:ext cx="8778240" cy="548640"/>
          </a:xfrm>
          <a:prstGeom prst="rect">
            <a:avLst/>
          </a:prstGeom>
          <a:noFill/>
        </p:spPr>
        <p:txBody>
          <a:bodyPr wrap="square" lIns="0" tIns="0" rIns="0" bIns="0">
            <a:spAutoFit/>
          </a:bodyPr>
          <a:lstStyle/>
          <a:p>
            <a:pPr algn="l">
              <a:lnSpc>
                <a:spcPct val="125000"/>
              </a:lnSpc>
              <a:spcAft>
                <a:spcPts val="600"/>
              </a:spcAft>
            </a:pPr>
            <a:r>
              <a:rPr sz="2100" b="0" i="0">
                <a:solidFill>
                  <a:srgbClr val="FFFFFF"/>
                </a:solidFill>
                <a:latin typeface="Calibri"/>
              </a:rPr>
              <a:t>Seven answers for the Interoperable Europe assessment</a:t>
            </a:r>
          </a:p>
        </p:txBody>
      </p:sp>
      <p:sp>
        <p:nvSpPr>
          <p:cNvPr id="5" name="Rectangle 4"/>
          <p:cNvSpPr/>
          <p:nvPr/>
        </p:nvSpPr>
        <p:spPr>
          <a:xfrm>
            <a:off x="868680" y="3566160"/>
            <a:ext cx="3840480" cy="12700"/>
          </a:xfrm>
          <a:prstGeom prst="rect">
            <a:avLst/>
          </a:prstGeom>
          <a:solidFill>
            <a:srgbClr val="8EA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3794760"/>
            <a:ext cx="9326880" cy="1097280"/>
          </a:xfrm>
          <a:prstGeom prst="rect">
            <a:avLst/>
          </a:prstGeom>
          <a:noFill/>
        </p:spPr>
        <p:txBody>
          <a:bodyPr wrap="square" lIns="0" tIns="0" rIns="0" bIns="0">
            <a:spAutoFit/>
          </a:bodyPr>
          <a:lstStyle/>
          <a:p>
            <a:pPr algn="l">
              <a:lnSpc>
                <a:spcPct val="130000"/>
              </a:lnSpc>
              <a:spcAft>
                <a:spcPts val="600"/>
              </a:spcAft>
            </a:pPr>
            <a:r>
              <a:rPr sz="1300" b="0" i="0">
                <a:solidFill>
                  <a:srgbClr val="D3DDEE"/>
                </a:solidFill>
                <a:latin typeface="Calibri"/>
              </a:rPr>
              <a:t>Every figure is a legal reference, a measurement of the published artefacts (ontology v3.3.4, era-shapes, era-skos), or a measurement against the live knowledge graph on 22 August 2026.</a:t>
            </a:r>
          </a:p>
          <a:p>
            <a:pPr algn="l">
              <a:lnSpc>
                <a:spcPct val="130000"/>
              </a:lnSpc>
              <a:spcAft>
                <a:spcPts val="600"/>
              </a:spcAft>
            </a:pPr>
            <a:r>
              <a:rPr sz="1300" b="0" i="0">
                <a:solidFill>
                  <a:srgbClr val="D3DDEE"/>
                </a:solidFill>
                <a:latin typeface="Calibri"/>
              </a:rPr>
              <a:t>Parameter counts exclude owl:deprecated terms. Where the artefacts and the deployed graph disagree, both numbers are given.</a:t>
            </a:r>
          </a:p>
        </p:txBody>
      </p:sp>
      <p:pic>
        <p:nvPicPr>
          <p:cNvPr id="7" name="Picture 6" descr="era-logo.png"/>
          <p:cNvPicPr>
            <a:picLocks noChangeAspect="1"/>
          </p:cNvPicPr>
          <p:nvPr/>
        </p:nvPicPr>
        <p:blipFill>
          <a:blip r:embed="rId2"/>
          <a:stretch>
            <a:fillRect/>
          </a:stretch>
        </p:blipFill>
        <p:spPr>
          <a:xfrm>
            <a:off x="868680" y="685800"/>
            <a:ext cx="1085481" cy="658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1</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Would it make sense for public authorities
to look at reusability?</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Yes — because the ontology is not an interpretation of the law. It is the law in machine-readable form.</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2</a:t>
            </a:r>
          </a:p>
        </p:txBody>
      </p:sp>
      <p:sp>
        <p:nvSpPr>
          <p:cNvPr id="9" name="Rectangle 8"/>
          <p:cNvSpPr/>
          <p:nvPr/>
        </p:nvSpPr>
        <p:spPr>
          <a:xfrm>
            <a:off x="566928" y="1828800"/>
            <a:ext cx="11064240" cy="566928"/>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1828800"/>
            <a:ext cx="45720" cy="566928"/>
          </a:xfrm>
          <a:prstGeom prst="rect">
            <a:avLst/>
          </a:prstGeom>
          <a:solidFill>
            <a:srgbClr val="2E4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1956816"/>
            <a:ext cx="10680192" cy="384048"/>
          </a:xfrm>
          <a:prstGeom prst="rect">
            <a:avLst/>
          </a:prstGeom>
          <a:noFill/>
        </p:spPr>
        <p:txBody>
          <a:bodyPr wrap="square" lIns="0" tIns="0" rIns="0" bIns="0">
            <a:spAutoFit/>
          </a:bodyPr>
          <a:lstStyle/>
          <a:p>
            <a:pPr algn="l">
              <a:lnSpc>
                <a:spcPct val="122000"/>
              </a:lnSpc>
              <a:spcAft>
                <a:spcPts val="600"/>
              </a:spcAft>
            </a:pPr>
            <a:r>
              <a:rPr sz="1350" b="1" i="0">
                <a:solidFill>
                  <a:srgbClr val="2E4372"/>
                </a:solidFill>
                <a:latin typeface="Calibri"/>
              </a:rPr>
              <a:t>RINF parameter 1.1.1.1.4.1 “Nominal track gauge” </a:t>
            </a:r>
            <a:r>
              <a:rPr sz="1350" b="0" i="0">
                <a:solidFill>
                  <a:srgbClr val="262626"/>
                </a:solidFill>
                <a:latin typeface="Calibri"/>
              </a:rPr>
              <a:t>is </a:t>
            </a:r>
            <a:r>
              <a:rPr sz="1350" b="0" i="0">
                <a:solidFill>
                  <a:srgbClr val="262626"/>
                </a:solidFill>
                <a:latin typeface="Consolas"/>
              </a:rPr>
              <a:t>era:wheelSetGauge</a:t>
            </a:r>
            <a:r>
              <a:rPr sz="1350" b="0" i="0">
                <a:solidFill>
                  <a:srgbClr val="262626"/>
                </a:solidFill>
                <a:latin typeface="Calibri"/>
              </a:rPr>
              <a:t>. 292 live properties carry their legal index, so the trace from legal text to data field is machine-checkable, not a matter of documentation discipline.</a:t>
            </a:r>
          </a:p>
        </p:txBody>
      </p:sp>
      <p:sp>
        <p:nvSpPr>
          <p:cNvPr id="12" name="Rectangle 11"/>
          <p:cNvSpPr/>
          <p:nvPr/>
        </p:nvSpPr>
        <p:spPr>
          <a:xfrm>
            <a:off x="566928" y="2615184"/>
            <a:ext cx="1722120" cy="1024128"/>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66928" y="2615184"/>
            <a:ext cx="1722120" cy="4114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4944" y="2788920"/>
            <a:ext cx="1466088" cy="457200"/>
          </a:xfrm>
          <a:prstGeom prst="rect">
            <a:avLst/>
          </a:prstGeom>
          <a:noFill/>
        </p:spPr>
        <p:txBody>
          <a:bodyPr wrap="square" lIns="0" tIns="0" rIns="0" bIns="0">
            <a:spAutoFit/>
          </a:bodyPr>
          <a:lstStyle/>
          <a:p>
            <a:pPr algn="ctr">
              <a:lnSpc>
                <a:spcPct val="100000"/>
              </a:lnSpc>
              <a:spcAft>
                <a:spcPts val="600"/>
              </a:spcAft>
            </a:pPr>
            <a:r>
              <a:rPr sz="3000" b="1" i="0" dirty="0">
                <a:solidFill>
                  <a:srgbClr val="2E4372"/>
                </a:solidFill>
                <a:latin typeface="Calibri"/>
              </a:rPr>
              <a:t>47.4 M</a:t>
            </a:r>
          </a:p>
        </p:txBody>
      </p:sp>
      <p:sp>
        <p:nvSpPr>
          <p:cNvPr id="15" name="TextBox 14"/>
          <p:cNvSpPr txBox="1"/>
          <p:nvPr/>
        </p:nvSpPr>
        <p:spPr>
          <a:xfrm>
            <a:off x="560832" y="3255264"/>
            <a:ext cx="1783080" cy="429156"/>
          </a:xfrm>
          <a:prstGeom prst="rect">
            <a:avLst/>
          </a:prstGeom>
          <a:noFill/>
        </p:spPr>
        <p:txBody>
          <a:bodyPr wrap="square" lIns="0" tIns="0" rIns="0" bIns="0">
            <a:spAutoFit/>
          </a:bodyPr>
          <a:lstStyle/>
          <a:p>
            <a:pPr algn="ctr">
              <a:lnSpc>
                <a:spcPct val="112000"/>
              </a:lnSpc>
              <a:spcAft>
                <a:spcPts val="600"/>
              </a:spcAft>
            </a:pPr>
            <a:r>
              <a:rPr sz="1050" b="0" i="0" dirty="0">
                <a:solidFill>
                  <a:srgbClr val="5B6577"/>
                </a:solidFill>
                <a:latin typeface="Calibri"/>
              </a:rPr>
              <a:t>triples in the
live graph</a:t>
            </a:r>
          </a:p>
        </p:txBody>
      </p:sp>
      <p:sp>
        <p:nvSpPr>
          <p:cNvPr id="16" name="Rectangle 15"/>
          <p:cNvSpPr/>
          <p:nvPr/>
        </p:nvSpPr>
        <p:spPr>
          <a:xfrm>
            <a:off x="2435352" y="2615184"/>
            <a:ext cx="1722120" cy="1024128"/>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435352" y="2615184"/>
            <a:ext cx="1722120" cy="4114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63368" y="2788920"/>
            <a:ext cx="1466088" cy="457200"/>
          </a:xfrm>
          <a:prstGeom prst="rect">
            <a:avLst/>
          </a:prstGeom>
          <a:noFill/>
        </p:spPr>
        <p:txBody>
          <a:bodyPr wrap="square" lIns="0" tIns="0" rIns="0" bIns="0">
            <a:spAutoFit/>
          </a:bodyPr>
          <a:lstStyle/>
          <a:p>
            <a:pPr algn="ctr">
              <a:lnSpc>
                <a:spcPct val="100000"/>
              </a:lnSpc>
              <a:spcAft>
                <a:spcPts val="600"/>
              </a:spcAft>
            </a:pPr>
            <a:r>
              <a:rPr sz="3000" b="1" i="0">
                <a:solidFill>
                  <a:srgbClr val="2E4372"/>
                </a:solidFill>
                <a:latin typeface="Calibri"/>
              </a:rPr>
              <a:t>27</a:t>
            </a:r>
          </a:p>
        </p:txBody>
      </p:sp>
      <p:sp>
        <p:nvSpPr>
          <p:cNvPr id="19" name="TextBox 18"/>
          <p:cNvSpPr txBox="1"/>
          <p:nvPr/>
        </p:nvSpPr>
        <p:spPr>
          <a:xfrm>
            <a:off x="2526792" y="3255264"/>
            <a:ext cx="1539240" cy="329184"/>
          </a:xfrm>
          <a:prstGeom prst="rect">
            <a:avLst/>
          </a:prstGeom>
          <a:noFill/>
        </p:spPr>
        <p:txBody>
          <a:bodyPr wrap="square" lIns="0" tIns="0" rIns="0" bIns="0">
            <a:spAutoFit/>
          </a:bodyPr>
          <a:lstStyle/>
          <a:p>
            <a:pPr algn="ctr">
              <a:lnSpc>
                <a:spcPct val="112000"/>
              </a:lnSpc>
              <a:spcAft>
                <a:spcPts val="600"/>
              </a:spcAft>
            </a:pPr>
            <a:r>
              <a:rPr sz="1050" b="0" i="0" dirty="0">
                <a:solidFill>
                  <a:srgbClr val="5B6577"/>
                </a:solidFill>
                <a:latin typeface="Calibri"/>
              </a:rPr>
              <a:t>countries
publishing</a:t>
            </a:r>
          </a:p>
        </p:txBody>
      </p:sp>
      <p:sp>
        <p:nvSpPr>
          <p:cNvPr id="20" name="Rectangle 19"/>
          <p:cNvSpPr/>
          <p:nvPr/>
        </p:nvSpPr>
        <p:spPr>
          <a:xfrm>
            <a:off x="4303776" y="2615184"/>
            <a:ext cx="1722120" cy="1024128"/>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03776" y="2615184"/>
            <a:ext cx="1722120" cy="4114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1792" y="2788920"/>
            <a:ext cx="1466088" cy="457200"/>
          </a:xfrm>
          <a:prstGeom prst="rect">
            <a:avLst/>
          </a:prstGeom>
          <a:noFill/>
        </p:spPr>
        <p:txBody>
          <a:bodyPr wrap="square" lIns="0" tIns="0" rIns="0" bIns="0">
            <a:spAutoFit/>
          </a:bodyPr>
          <a:lstStyle/>
          <a:p>
            <a:pPr algn="ctr">
              <a:lnSpc>
                <a:spcPct val="100000"/>
              </a:lnSpc>
              <a:spcAft>
                <a:spcPts val="600"/>
              </a:spcAft>
            </a:pPr>
            <a:r>
              <a:rPr sz="3000" b="1" i="0">
                <a:solidFill>
                  <a:srgbClr val="2E4372"/>
                </a:solidFill>
                <a:latin typeface="Calibri"/>
              </a:rPr>
              <a:t>54</a:t>
            </a:r>
          </a:p>
        </p:txBody>
      </p:sp>
      <p:sp>
        <p:nvSpPr>
          <p:cNvPr id="23" name="TextBox 22"/>
          <p:cNvSpPr txBox="1"/>
          <p:nvPr/>
        </p:nvSpPr>
        <p:spPr>
          <a:xfrm>
            <a:off x="4395216" y="3255264"/>
            <a:ext cx="1630680" cy="429156"/>
          </a:xfrm>
          <a:prstGeom prst="rect">
            <a:avLst/>
          </a:prstGeom>
          <a:noFill/>
        </p:spPr>
        <p:txBody>
          <a:bodyPr wrap="square" lIns="0" tIns="0" rIns="0" bIns="0">
            <a:spAutoFit/>
          </a:bodyPr>
          <a:lstStyle/>
          <a:p>
            <a:pPr algn="ctr">
              <a:lnSpc>
                <a:spcPct val="112000"/>
              </a:lnSpc>
              <a:spcAft>
                <a:spcPts val="600"/>
              </a:spcAft>
            </a:pPr>
            <a:r>
              <a:rPr sz="1050" b="0" i="0" dirty="0">
                <a:solidFill>
                  <a:srgbClr val="5B6577"/>
                </a:solidFill>
                <a:latin typeface="Calibri"/>
              </a:rPr>
              <a:t>national
datasets</a:t>
            </a:r>
          </a:p>
        </p:txBody>
      </p:sp>
      <p:sp>
        <p:nvSpPr>
          <p:cNvPr id="24" name="Rectangle 23"/>
          <p:cNvSpPr/>
          <p:nvPr/>
        </p:nvSpPr>
        <p:spPr>
          <a:xfrm>
            <a:off x="6172200" y="2615184"/>
            <a:ext cx="1722120" cy="1024128"/>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72200" y="2615184"/>
            <a:ext cx="1722120" cy="4114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0216" y="2788920"/>
            <a:ext cx="1466088" cy="457200"/>
          </a:xfrm>
          <a:prstGeom prst="rect">
            <a:avLst/>
          </a:prstGeom>
          <a:noFill/>
        </p:spPr>
        <p:txBody>
          <a:bodyPr wrap="square" lIns="0" tIns="0" rIns="0" bIns="0">
            <a:spAutoFit/>
          </a:bodyPr>
          <a:lstStyle/>
          <a:p>
            <a:pPr algn="ctr">
              <a:lnSpc>
                <a:spcPct val="100000"/>
              </a:lnSpc>
              <a:spcAft>
                <a:spcPts val="600"/>
              </a:spcAft>
            </a:pPr>
            <a:r>
              <a:rPr sz="3000" b="1" i="0">
                <a:solidFill>
                  <a:srgbClr val="2E4372"/>
                </a:solidFill>
                <a:latin typeface="Calibri"/>
              </a:rPr>
              <a:t>725,637</a:t>
            </a:r>
          </a:p>
        </p:txBody>
      </p:sp>
      <p:sp>
        <p:nvSpPr>
          <p:cNvPr id="27" name="TextBox 26"/>
          <p:cNvSpPr txBox="1"/>
          <p:nvPr/>
        </p:nvSpPr>
        <p:spPr>
          <a:xfrm>
            <a:off x="6263640" y="3255264"/>
            <a:ext cx="1539240" cy="329184"/>
          </a:xfrm>
          <a:prstGeom prst="rect">
            <a:avLst/>
          </a:prstGeom>
          <a:noFill/>
        </p:spPr>
        <p:txBody>
          <a:bodyPr wrap="square" lIns="0" tIns="0" rIns="0" bIns="0">
            <a:spAutoFit/>
          </a:bodyPr>
          <a:lstStyle/>
          <a:p>
            <a:pPr algn="ctr">
              <a:lnSpc>
                <a:spcPct val="112000"/>
              </a:lnSpc>
              <a:spcAft>
                <a:spcPts val="600"/>
              </a:spcAft>
            </a:pPr>
            <a:r>
              <a:rPr sz="1050" b="0" i="0">
                <a:solidFill>
                  <a:srgbClr val="5B6577"/>
                </a:solidFill>
                <a:latin typeface="Calibri"/>
              </a:rPr>
              <a:t>running
tracks</a:t>
            </a:r>
          </a:p>
        </p:txBody>
      </p:sp>
      <p:sp>
        <p:nvSpPr>
          <p:cNvPr id="28" name="Rectangle 27"/>
          <p:cNvSpPr/>
          <p:nvPr/>
        </p:nvSpPr>
        <p:spPr>
          <a:xfrm>
            <a:off x="8040624" y="2615184"/>
            <a:ext cx="1722120" cy="1024128"/>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040624" y="2615184"/>
            <a:ext cx="1722120" cy="4114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68640" y="2788920"/>
            <a:ext cx="1466088" cy="457200"/>
          </a:xfrm>
          <a:prstGeom prst="rect">
            <a:avLst/>
          </a:prstGeom>
          <a:noFill/>
        </p:spPr>
        <p:txBody>
          <a:bodyPr wrap="square" lIns="0" tIns="0" rIns="0" bIns="0">
            <a:spAutoFit/>
          </a:bodyPr>
          <a:lstStyle/>
          <a:p>
            <a:pPr algn="ctr">
              <a:lnSpc>
                <a:spcPct val="100000"/>
              </a:lnSpc>
              <a:spcAft>
                <a:spcPts val="600"/>
              </a:spcAft>
            </a:pPr>
            <a:r>
              <a:rPr sz="3000" b="1" i="0">
                <a:solidFill>
                  <a:srgbClr val="2E4372"/>
                </a:solidFill>
                <a:latin typeface="Calibri"/>
              </a:rPr>
              <a:t>18,279</a:t>
            </a:r>
          </a:p>
        </p:txBody>
      </p:sp>
      <p:sp>
        <p:nvSpPr>
          <p:cNvPr id="31" name="TextBox 30"/>
          <p:cNvSpPr txBox="1"/>
          <p:nvPr/>
        </p:nvSpPr>
        <p:spPr>
          <a:xfrm>
            <a:off x="8132064" y="3255264"/>
            <a:ext cx="1539240" cy="329184"/>
          </a:xfrm>
          <a:prstGeom prst="rect">
            <a:avLst/>
          </a:prstGeom>
          <a:noFill/>
        </p:spPr>
        <p:txBody>
          <a:bodyPr wrap="square" lIns="0" tIns="0" rIns="0" bIns="0">
            <a:spAutoFit/>
          </a:bodyPr>
          <a:lstStyle/>
          <a:p>
            <a:pPr algn="ctr">
              <a:lnSpc>
                <a:spcPct val="112000"/>
              </a:lnSpc>
              <a:spcAft>
                <a:spcPts val="600"/>
              </a:spcAft>
            </a:pPr>
            <a:r>
              <a:rPr sz="1050" b="0" i="0" dirty="0">
                <a:solidFill>
                  <a:srgbClr val="5B6577"/>
                </a:solidFill>
                <a:latin typeface="Calibri"/>
              </a:rPr>
              <a:t>SKOS concepts
in 423 schemes</a:t>
            </a:r>
          </a:p>
        </p:txBody>
      </p:sp>
      <p:sp>
        <p:nvSpPr>
          <p:cNvPr id="32" name="Rectangle 31"/>
          <p:cNvSpPr/>
          <p:nvPr/>
        </p:nvSpPr>
        <p:spPr>
          <a:xfrm>
            <a:off x="9909048" y="2615184"/>
            <a:ext cx="1722120" cy="1024128"/>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909048" y="2615184"/>
            <a:ext cx="1722120" cy="4114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37064" y="2788920"/>
            <a:ext cx="1466088" cy="457200"/>
          </a:xfrm>
          <a:prstGeom prst="rect">
            <a:avLst/>
          </a:prstGeom>
          <a:noFill/>
        </p:spPr>
        <p:txBody>
          <a:bodyPr wrap="square" lIns="0" tIns="0" rIns="0" bIns="0">
            <a:spAutoFit/>
          </a:bodyPr>
          <a:lstStyle/>
          <a:p>
            <a:pPr algn="ctr">
              <a:lnSpc>
                <a:spcPct val="100000"/>
              </a:lnSpc>
              <a:spcAft>
                <a:spcPts val="600"/>
              </a:spcAft>
            </a:pPr>
            <a:r>
              <a:rPr sz="3000" b="1" i="0">
                <a:solidFill>
                  <a:srgbClr val="2E4372"/>
                </a:solidFill>
                <a:latin typeface="Calibri"/>
              </a:rPr>
              <a:t>1,029</a:t>
            </a:r>
          </a:p>
        </p:txBody>
      </p:sp>
      <p:sp>
        <p:nvSpPr>
          <p:cNvPr id="35" name="TextBox 34"/>
          <p:cNvSpPr txBox="1"/>
          <p:nvPr/>
        </p:nvSpPr>
        <p:spPr>
          <a:xfrm>
            <a:off x="10000488" y="3255264"/>
            <a:ext cx="1539240" cy="329184"/>
          </a:xfrm>
          <a:prstGeom prst="rect">
            <a:avLst/>
          </a:prstGeom>
          <a:noFill/>
        </p:spPr>
        <p:txBody>
          <a:bodyPr wrap="square" lIns="0" tIns="0" rIns="0" bIns="0">
            <a:spAutoFit/>
          </a:bodyPr>
          <a:lstStyle/>
          <a:p>
            <a:pPr algn="ctr">
              <a:lnSpc>
                <a:spcPct val="112000"/>
              </a:lnSpc>
              <a:spcAft>
                <a:spcPts val="600"/>
              </a:spcAft>
            </a:pPr>
            <a:r>
              <a:rPr sz="1050" b="0" i="0" dirty="0">
                <a:solidFill>
                  <a:srgbClr val="5B6577"/>
                </a:solidFill>
                <a:latin typeface="Calibri"/>
              </a:rPr>
              <a:t>SHACL shapes
+ 323 constraints</a:t>
            </a:r>
          </a:p>
        </p:txBody>
      </p:sp>
      <p:sp>
        <p:nvSpPr>
          <p:cNvPr id="36" name="TextBox 35"/>
          <p:cNvSpPr txBox="1"/>
          <p:nvPr/>
        </p:nvSpPr>
        <p:spPr>
          <a:xfrm>
            <a:off x="566928" y="3913632"/>
            <a:ext cx="5120640" cy="274320"/>
          </a:xfrm>
          <a:prstGeom prst="rect">
            <a:avLst/>
          </a:prstGeom>
          <a:noFill/>
        </p:spPr>
        <p:txBody>
          <a:bodyPr wrap="square" lIns="0" tIns="0" rIns="0" bIns="0">
            <a:spAutoFit/>
          </a:bodyPr>
          <a:lstStyle/>
          <a:p>
            <a:pPr algn="l">
              <a:lnSpc>
                <a:spcPct val="125000"/>
              </a:lnSpc>
              <a:spcAft>
                <a:spcPts val="600"/>
              </a:spcAft>
            </a:pPr>
            <a:r>
              <a:rPr sz="1300" b="1" i="0">
                <a:solidFill>
                  <a:srgbClr val="2E4372"/>
                </a:solidFill>
                <a:latin typeface="Calibri"/>
              </a:rPr>
              <a:t>The same design across four legal registers</a:t>
            </a:r>
          </a:p>
        </p:txBody>
      </p:sp>
      <p:sp>
        <p:nvSpPr>
          <p:cNvPr id="37" name="TextBox 36"/>
          <p:cNvSpPr txBox="1"/>
          <p:nvPr/>
        </p:nvSpPr>
        <p:spPr>
          <a:xfrm>
            <a:off x="566928" y="4297680"/>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era:rinfIndex</a:t>
            </a:r>
          </a:p>
        </p:txBody>
      </p:sp>
      <p:sp>
        <p:nvSpPr>
          <p:cNvPr id="38" name="Rectangle 37"/>
          <p:cNvSpPr/>
          <p:nvPr/>
        </p:nvSpPr>
        <p:spPr>
          <a:xfrm>
            <a:off x="2350008" y="4315968"/>
            <a:ext cx="27889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350008" y="4315968"/>
            <a:ext cx="2788920" cy="237744"/>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230368" y="4297680"/>
            <a:ext cx="548640" cy="237744"/>
          </a:xfrm>
          <a:prstGeom prst="rect">
            <a:avLst/>
          </a:prstGeom>
          <a:noFill/>
        </p:spPr>
        <p:txBody>
          <a:bodyPr wrap="square" lIns="0" tIns="0" rIns="0" bIns="0">
            <a:spAutoFit/>
          </a:bodyPr>
          <a:lstStyle/>
          <a:p>
            <a:pPr algn="l">
              <a:lnSpc>
                <a:spcPct val="100000"/>
              </a:lnSpc>
              <a:spcAft>
                <a:spcPts val="600"/>
              </a:spcAft>
            </a:pPr>
            <a:r>
              <a:rPr sz="1150" b="1" i="0">
                <a:solidFill>
                  <a:srgbClr val="2E4372"/>
                </a:solidFill>
                <a:latin typeface="Calibri"/>
              </a:rPr>
              <a:t>292</a:t>
            </a:r>
          </a:p>
        </p:txBody>
      </p:sp>
      <p:sp>
        <p:nvSpPr>
          <p:cNvPr id="41" name="TextBox 40"/>
          <p:cNvSpPr txBox="1"/>
          <p:nvPr/>
        </p:nvSpPr>
        <p:spPr>
          <a:xfrm>
            <a:off x="566928" y="4654296"/>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era:eratvIndex</a:t>
            </a:r>
          </a:p>
        </p:txBody>
      </p:sp>
      <p:sp>
        <p:nvSpPr>
          <p:cNvPr id="42" name="Rectangle 41"/>
          <p:cNvSpPr/>
          <p:nvPr/>
        </p:nvSpPr>
        <p:spPr>
          <a:xfrm>
            <a:off x="2350008" y="4672584"/>
            <a:ext cx="27889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350008" y="4672584"/>
            <a:ext cx="1661890"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30368" y="4654296"/>
            <a:ext cx="54864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174</a:t>
            </a:r>
          </a:p>
        </p:txBody>
      </p:sp>
      <p:sp>
        <p:nvSpPr>
          <p:cNvPr id="45" name="TextBox 44"/>
          <p:cNvSpPr txBox="1"/>
          <p:nvPr/>
        </p:nvSpPr>
        <p:spPr>
          <a:xfrm>
            <a:off x="566928" y="5010912"/>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tsiOPEAppendixD2Index</a:t>
            </a:r>
          </a:p>
        </p:txBody>
      </p:sp>
      <p:sp>
        <p:nvSpPr>
          <p:cNvPr id="46" name="Rectangle 45"/>
          <p:cNvSpPr/>
          <p:nvPr/>
        </p:nvSpPr>
        <p:spPr>
          <a:xfrm>
            <a:off x="2350008" y="5029200"/>
            <a:ext cx="27889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2350008" y="5029200"/>
            <a:ext cx="639923"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230368" y="5010912"/>
            <a:ext cx="54864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67</a:t>
            </a:r>
          </a:p>
        </p:txBody>
      </p:sp>
      <p:sp>
        <p:nvSpPr>
          <p:cNvPr id="49" name="TextBox 48"/>
          <p:cNvSpPr txBox="1"/>
          <p:nvPr/>
        </p:nvSpPr>
        <p:spPr>
          <a:xfrm>
            <a:off x="2350008" y="5440680"/>
            <a:ext cx="3337560" cy="274320"/>
          </a:xfrm>
          <a:prstGeom prst="rect">
            <a:avLst/>
          </a:prstGeom>
          <a:noFill/>
        </p:spPr>
        <p:txBody>
          <a:bodyPr wrap="square" lIns="0" tIns="0" rIns="0" bIns="0">
            <a:spAutoFit/>
          </a:bodyPr>
          <a:lstStyle/>
          <a:p>
            <a:pPr algn="l">
              <a:lnSpc>
                <a:spcPct val="125000"/>
              </a:lnSpc>
              <a:spcAft>
                <a:spcPts val="600"/>
              </a:spcAft>
            </a:pPr>
            <a:r>
              <a:rPr sz="1000" b="0" i="1">
                <a:solidFill>
                  <a:srgbClr val="5B6577"/>
                </a:solidFill>
                <a:latin typeface="Calibri"/>
              </a:rPr>
              <a:t>live properties carrying a legal index (RINF · ERATV · Route Book)</a:t>
            </a:r>
          </a:p>
        </p:txBody>
      </p:sp>
      <p:sp>
        <p:nvSpPr>
          <p:cNvPr id="50" name="Rectangle 49"/>
          <p:cNvSpPr/>
          <p:nvPr/>
        </p:nvSpPr>
        <p:spPr>
          <a:xfrm>
            <a:off x="6080760" y="3913632"/>
            <a:ext cx="5550408" cy="1481328"/>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6080760" y="3913632"/>
            <a:ext cx="45720" cy="1481328"/>
          </a:xfrm>
          <a:prstGeom prst="rect">
            <a:avLst/>
          </a:prstGeom>
          <a:solidFill>
            <a:srgbClr val="255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281928" y="4041648"/>
            <a:ext cx="5166360" cy="1298448"/>
          </a:xfrm>
          <a:prstGeom prst="rect">
            <a:avLst/>
          </a:prstGeom>
          <a:noFill/>
        </p:spPr>
        <p:txBody>
          <a:bodyPr wrap="square" lIns="0" tIns="0" rIns="0" bIns="0">
            <a:spAutoFit/>
          </a:bodyPr>
          <a:lstStyle/>
          <a:p>
            <a:pPr algn="l">
              <a:lnSpc>
                <a:spcPct val="122000"/>
              </a:lnSpc>
              <a:spcAft>
                <a:spcPts val="600"/>
              </a:spcAft>
            </a:pPr>
            <a:r>
              <a:rPr sz="1350" b="1" i="0" dirty="0">
                <a:solidFill>
                  <a:srgbClr val="255C45"/>
                </a:solidFill>
                <a:latin typeface="Calibri"/>
              </a:rPr>
              <a:t>The chain is followable end to end. </a:t>
            </a:r>
            <a:r>
              <a:rPr sz="1350" b="0" i="0" dirty="0">
                <a:solidFill>
                  <a:srgbClr val="262626"/>
                </a:solidFill>
                <a:latin typeface="Calibri"/>
              </a:rPr>
              <a:t>era-lex holds 208,517 triples over 7,317 legal acts in ELI, and 420 ontology terms cite 79 acts through </a:t>
            </a:r>
            <a:r>
              <a:rPr sz="1350" b="0" i="0" dirty="0" err="1">
                <a:solidFill>
                  <a:srgbClr val="262626"/>
                </a:solidFill>
                <a:latin typeface="Calibri"/>
              </a:rPr>
              <a:t>dcterms:source</a:t>
            </a:r>
            <a:r>
              <a:rPr sz="1350" b="0" i="0" dirty="0">
                <a:solidFill>
                  <a:srgbClr val="262626"/>
                </a:solidFill>
                <a:latin typeface="Calibri"/>
              </a:rPr>
              <a:t>. A </a:t>
            </a:r>
            <a:r>
              <a:rPr sz="1350" b="0" i="0" dirty="0" err="1">
                <a:solidFill>
                  <a:srgbClr val="262626"/>
                </a:solidFill>
                <a:latin typeface="Calibri"/>
              </a:rPr>
              <a:t>reuser</a:t>
            </a:r>
            <a:r>
              <a:rPr sz="1350" b="0" i="0" dirty="0">
                <a:solidFill>
                  <a:srgbClr val="262626"/>
                </a:solidFill>
                <a:latin typeface="Calibri"/>
              </a:rPr>
              <a:t> goes from data field → numbered parameter → provision in the Official Journal with no human in the loop. This is the part most worth copying, and it is domain-neutral.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2</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What was the main challenge,
and what were the lessons?</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The vocabulary was the easy part. The challenge is that a shared vocabulary does not guarantee shared practice — and the gap is invisible until you measure it.</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3</a:t>
            </a:r>
          </a:p>
        </p:txBody>
      </p:sp>
      <p:sp>
        <p:nvSpPr>
          <p:cNvPr id="9" name="TextBox 8"/>
          <p:cNvSpPr txBox="1"/>
          <p:nvPr/>
        </p:nvSpPr>
        <p:spPr>
          <a:xfrm>
            <a:off x="566928" y="1975104"/>
            <a:ext cx="5943600" cy="274320"/>
          </a:xfrm>
          <a:prstGeom prst="rect">
            <a:avLst/>
          </a:prstGeom>
          <a:noFill/>
        </p:spPr>
        <p:txBody>
          <a:bodyPr wrap="square" lIns="0" tIns="0" rIns="0" bIns="0">
            <a:spAutoFit/>
          </a:bodyPr>
          <a:lstStyle/>
          <a:p>
            <a:pPr algn="l">
              <a:lnSpc>
                <a:spcPct val="125000"/>
              </a:lnSpc>
              <a:spcAft>
                <a:spcPts val="600"/>
              </a:spcAft>
            </a:pPr>
            <a:r>
              <a:rPr sz="1300" b="1" i="0">
                <a:solidFill>
                  <a:srgbClr val="2E4372"/>
                </a:solidFill>
                <a:latin typeface="Calibri"/>
              </a:rPr>
              <a:t>Retired parameters still carrying live data, by publisher</a:t>
            </a:r>
          </a:p>
        </p:txBody>
      </p:sp>
      <p:sp>
        <p:nvSpPr>
          <p:cNvPr id="10" name="TextBox 9"/>
          <p:cNvSpPr txBox="1"/>
          <p:nvPr/>
        </p:nvSpPr>
        <p:spPr>
          <a:xfrm>
            <a:off x="566928" y="2359152"/>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Germany</a:t>
            </a:r>
          </a:p>
        </p:txBody>
      </p:sp>
      <p:sp>
        <p:nvSpPr>
          <p:cNvPr id="11" name="Rectangle 10"/>
          <p:cNvSpPr/>
          <p:nvPr/>
        </p:nvSpPr>
        <p:spPr>
          <a:xfrm>
            <a:off x="1938528" y="2377440"/>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938528" y="2377440"/>
            <a:ext cx="3703320" cy="237744"/>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33288" y="2359152"/>
            <a:ext cx="868680" cy="237744"/>
          </a:xfrm>
          <a:prstGeom prst="rect">
            <a:avLst/>
          </a:prstGeom>
          <a:noFill/>
        </p:spPr>
        <p:txBody>
          <a:bodyPr wrap="square" lIns="0" tIns="0" rIns="0" bIns="0">
            <a:spAutoFit/>
          </a:bodyPr>
          <a:lstStyle/>
          <a:p>
            <a:pPr algn="l">
              <a:lnSpc>
                <a:spcPct val="100000"/>
              </a:lnSpc>
              <a:spcAft>
                <a:spcPts val="600"/>
              </a:spcAft>
            </a:pPr>
            <a:r>
              <a:rPr sz="1150" b="1" i="0">
                <a:solidFill>
                  <a:srgbClr val="2E4372"/>
                </a:solidFill>
                <a:latin typeface="Calibri"/>
              </a:rPr>
              <a:t>156,064</a:t>
            </a:r>
          </a:p>
        </p:txBody>
      </p:sp>
      <p:sp>
        <p:nvSpPr>
          <p:cNvPr id="14" name="TextBox 13"/>
          <p:cNvSpPr txBox="1"/>
          <p:nvPr/>
        </p:nvSpPr>
        <p:spPr>
          <a:xfrm>
            <a:off x="566928" y="2715768"/>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Switzerland</a:t>
            </a:r>
          </a:p>
        </p:txBody>
      </p:sp>
      <p:sp>
        <p:nvSpPr>
          <p:cNvPr id="15" name="Rectangle 14"/>
          <p:cNvSpPr/>
          <p:nvPr/>
        </p:nvSpPr>
        <p:spPr>
          <a:xfrm>
            <a:off x="1938528" y="2734056"/>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938528" y="2734056"/>
            <a:ext cx="1498731"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33288" y="2715768"/>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63,159</a:t>
            </a:r>
          </a:p>
        </p:txBody>
      </p:sp>
      <p:sp>
        <p:nvSpPr>
          <p:cNvPr id="18" name="TextBox 17"/>
          <p:cNvSpPr txBox="1"/>
          <p:nvPr/>
        </p:nvSpPr>
        <p:spPr>
          <a:xfrm>
            <a:off x="566928" y="3072384"/>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Czechia</a:t>
            </a:r>
          </a:p>
        </p:txBody>
      </p:sp>
      <p:sp>
        <p:nvSpPr>
          <p:cNvPr id="19" name="Rectangle 18"/>
          <p:cNvSpPr/>
          <p:nvPr/>
        </p:nvSpPr>
        <p:spPr>
          <a:xfrm>
            <a:off x="1938528" y="3090672"/>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938528" y="3090672"/>
            <a:ext cx="155143"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33288" y="3072384"/>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6,538</a:t>
            </a:r>
          </a:p>
        </p:txBody>
      </p:sp>
      <p:sp>
        <p:nvSpPr>
          <p:cNvPr id="22" name="TextBox 21"/>
          <p:cNvSpPr txBox="1"/>
          <p:nvPr/>
        </p:nvSpPr>
        <p:spPr>
          <a:xfrm>
            <a:off x="566928" y="3429000"/>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Netherlands</a:t>
            </a:r>
          </a:p>
        </p:txBody>
      </p:sp>
      <p:sp>
        <p:nvSpPr>
          <p:cNvPr id="23" name="Rectangle 22"/>
          <p:cNvSpPr/>
          <p:nvPr/>
        </p:nvSpPr>
        <p:spPr>
          <a:xfrm>
            <a:off x="1938528" y="3447288"/>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938528" y="3447288"/>
            <a:ext cx="80893"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733288" y="3429000"/>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3,409</a:t>
            </a:r>
          </a:p>
        </p:txBody>
      </p:sp>
      <p:sp>
        <p:nvSpPr>
          <p:cNvPr id="26" name="TextBox 25"/>
          <p:cNvSpPr txBox="1"/>
          <p:nvPr/>
        </p:nvSpPr>
        <p:spPr>
          <a:xfrm>
            <a:off x="566928" y="3785616"/>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Sweden</a:t>
            </a:r>
          </a:p>
        </p:txBody>
      </p:sp>
      <p:sp>
        <p:nvSpPr>
          <p:cNvPr id="27" name="Rectangle 26"/>
          <p:cNvSpPr/>
          <p:nvPr/>
        </p:nvSpPr>
        <p:spPr>
          <a:xfrm>
            <a:off x="1938528" y="3803904"/>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938528" y="3803904"/>
            <a:ext cx="73442"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733288" y="3785616"/>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3,095</a:t>
            </a:r>
          </a:p>
        </p:txBody>
      </p:sp>
      <p:sp>
        <p:nvSpPr>
          <p:cNvPr id="30" name="TextBox 29"/>
          <p:cNvSpPr txBox="1"/>
          <p:nvPr/>
        </p:nvSpPr>
        <p:spPr>
          <a:xfrm>
            <a:off x="566928" y="4142232"/>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Spain</a:t>
            </a:r>
          </a:p>
        </p:txBody>
      </p:sp>
      <p:sp>
        <p:nvSpPr>
          <p:cNvPr id="31" name="Rectangle 30"/>
          <p:cNvSpPr/>
          <p:nvPr/>
        </p:nvSpPr>
        <p:spPr>
          <a:xfrm>
            <a:off x="1938528" y="4160520"/>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938528" y="4160520"/>
            <a:ext cx="61862"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33288" y="4142232"/>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2,607</a:t>
            </a:r>
          </a:p>
        </p:txBody>
      </p:sp>
      <p:sp>
        <p:nvSpPr>
          <p:cNvPr id="34" name="TextBox 33"/>
          <p:cNvSpPr txBox="1"/>
          <p:nvPr/>
        </p:nvSpPr>
        <p:spPr>
          <a:xfrm>
            <a:off x="566928" y="4498848"/>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Hungary</a:t>
            </a:r>
          </a:p>
        </p:txBody>
      </p:sp>
      <p:sp>
        <p:nvSpPr>
          <p:cNvPr id="35" name="Rectangle 34"/>
          <p:cNvSpPr/>
          <p:nvPr/>
        </p:nvSpPr>
        <p:spPr>
          <a:xfrm>
            <a:off x="1938528" y="4517136"/>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1938528" y="4517136"/>
            <a:ext cx="53391"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733288" y="4498848"/>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2,250</a:t>
            </a:r>
          </a:p>
        </p:txBody>
      </p:sp>
      <p:sp>
        <p:nvSpPr>
          <p:cNvPr id="38" name="TextBox 37"/>
          <p:cNvSpPr txBox="1"/>
          <p:nvPr/>
        </p:nvSpPr>
        <p:spPr>
          <a:xfrm>
            <a:off x="566928" y="4855464"/>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Ireland</a:t>
            </a:r>
          </a:p>
        </p:txBody>
      </p:sp>
      <p:sp>
        <p:nvSpPr>
          <p:cNvPr id="39" name="Rectangle 38"/>
          <p:cNvSpPr/>
          <p:nvPr/>
        </p:nvSpPr>
        <p:spPr>
          <a:xfrm>
            <a:off x="1938528" y="4873752"/>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938528" y="4873752"/>
            <a:ext cx="39628"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733288" y="4855464"/>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1,670</a:t>
            </a:r>
          </a:p>
        </p:txBody>
      </p:sp>
      <p:sp>
        <p:nvSpPr>
          <p:cNvPr id="42" name="TextBox 41"/>
          <p:cNvSpPr txBox="1"/>
          <p:nvPr/>
        </p:nvSpPr>
        <p:spPr>
          <a:xfrm>
            <a:off x="566928" y="5212080"/>
            <a:ext cx="126187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France</a:t>
            </a:r>
          </a:p>
        </p:txBody>
      </p:sp>
      <p:sp>
        <p:nvSpPr>
          <p:cNvPr id="43" name="Rectangle 42"/>
          <p:cNvSpPr/>
          <p:nvPr/>
        </p:nvSpPr>
        <p:spPr>
          <a:xfrm>
            <a:off x="1938528" y="5230368"/>
            <a:ext cx="370332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938528" y="5230368"/>
            <a:ext cx="14047"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733288" y="5212080"/>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592</a:t>
            </a:r>
          </a:p>
        </p:txBody>
      </p:sp>
      <p:sp>
        <p:nvSpPr>
          <p:cNvPr id="46" name="TextBox 45"/>
          <p:cNvSpPr txBox="1"/>
          <p:nvPr/>
        </p:nvSpPr>
        <p:spPr>
          <a:xfrm>
            <a:off x="1938528" y="5641848"/>
            <a:ext cx="4572000" cy="274320"/>
          </a:xfrm>
          <a:prstGeom prst="rect">
            <a:avLst/>
          </a:prstGeom>
          <a:noFill/>
        </p:spPr>
        <p:txBody>
          <a:bodyPr wrap="square" lIns="0" tIns="0" rIns="0" bIns="0">
            <a:spAutoFit/>
          </a:bodyPr>
          <a:lstStyle/>
          <a:p>
            <a:pPr algn="l">
              <a:lnSpc>
                <a:spcPct val="125000"/>
              </a:lnSpc>
              <a:spcAft>
                <a:spcPts val="600"/>
              </a:spcAft>
            </a:pPr>
            <a:r>
              <a:rPr sz="1000" b="0" i="1">
                <a:solidFill>
                  <a:srgbClr val="5B6577"/>
                </a:solidFill>
                <a:latin typeface="Calibri"/>
              </a:rPr>
              <a:t>9 countries · 17 retired parameters · 237,781 statements in total</a:t>
            </a:r>
          </a:p>
        </p:txBody>
      </p:sp>
      <p:sp>
        <p:nvSpPr>
          <p:cNvPr id="47" name="TextBox 46"/>
          <p:cNvSpPr txBox="1"/>
          <p:nvPr/>
        </p:nvSpPr>
        <p:spPr>
          <a:xfrm>
            <a:off x="6858000" y="1975104"/>
            <a:ext cx="4773168" cy="3108960"/>
          </a:xfrm>
          <a:prstGeom prst="rect">
            <a:avLst/>
          </a:prstGeom>
          <a:noFill/>
        </p:spPr>
        <p:txBody>
          <a:bodyPr wrap="square" lIns="0" tIns="0" rIns="0" bIns="0">
            <a:spAutoFit/>
          </a:bodyPr>
          <a:lstStyle/>
          <a:p>
            <a:pPr algn="l">
              <a:lnSpc>
                <a:spcPct val="128000"/>
              </a:lnSpc>
              <a:spcAft>
                <a:spcPts val="900"/>
              </a:spcAft>
            </a:pPr>
            <a:r>
              <a:rPr sz="1350" b="1" i="0">
                <a:solidFill>
                  <a:srgbClr val="3F7BD1"/>
                </a:solidFill>
                <a:latin typeface="Calibri"/>
              </a:rPr>
              <a:t>▪  </a:t>
            </a:r>
            <a:r>
              <a:rPr sz="1350" b="1" i="0">
                <a:solidFill>
                  <a:srgbClr val="2E4372"/>
                </a:solidFill>
                <a:latin typeface="Calibri"/>
              </a:rPr>
              <a:t>Divergence is silent. </a:t>
            </a:r>
            <a:r>
              <a:rPr sz="1350" b="0" i="0">
                <a:solidFill>
                  <a:srgbClr val="262626"/>
                </a:solidFill>
                <a:latin typeface="Calibri"/>
              </a:rPr>
              <a:t>Croatia publishes op-types under a parallel concept scheme with typos (“Tehnical change”); the SHACL check passes because the value shape tests membership of a scheme, not of the canonical one.</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Deprecation is a migration, </a:t>
            </a:r>
            <a:r>
              <a:rPr sz="1350" b="0" i="0">
                <a:solidFill>
                  <a:srgbClr val="262626"/>
                </a:solidFill>
                <a:latin typeface="Calibri"/>
              </a:rPr>
              <a:t>not an annotation. 37 RINF parameters are retired and 9 countries still publish them.</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An identifier only counts if it resolves. </a:t>
            </a:r>
            <a:r>
              <a:rPr sz="1350" b="0" i="0">
                <a:solidFill>
                  <a:srgbClr val="262626"/>
                </a:solidFill>
                <a:latin typeface="Calibri"/>
              </a:rPr>
              <a:t>Belgium minted 0088 for INFRABEL where the register already had 1976 — name, VAT and 7 roles on the real one, none on the copy.</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Validate the vocabulary, not only the data, </a:t>
            </a:r>
            <a:r>
              <a:rPr sz="1350" b="0" i="0">
                <a:solidFill>
                  <a:srgbClr val="262626"/>
                </a:solidFill>
                <a:latin typeface="Calibri"/>
              </a:rPr>
              <a:t>and resolve value sets from a trusted source rather than from the graph under test.</a:t>
            </a:r>
          </a:p>
        </p:txBody>
      </p:sp>
      <p:sp>
        <p:nvSpPr>
          <p:cNvPr id="48" name="Rectangle 47"/>
          <p:cNvSpPr/>
          <p:nvPr/>
        </p:nvSpPr>
        <p:spPr>
          <a:xfrm>
            <a:off x="566928" y="5541264"/>
            <a:ext cx="11064240" cy="658368"/>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566928" y="5541264"/>
            <a:ext cx="45720" cy="658368"/>
          </a:xfrm>
          <a:prstGeom prst="rect">
            <a:avLst/>
          </a:prstGeom>
          <a:solidFill>
            <a:srgbClr val="255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68096" y="5669280"/>
            <a:ext cx="10680192" cy="475488"/>
          </a:xfrm>
          <a:prstGeom prst="rect">
            <a:avLst/>
          </a:prstGeom>
          <a:noFill/>
        </p:spPr>
        <p:txBody>
          <a:bodyPr wrap="square" lIns="0" tIns="0" rIns="0" bIns="0">
            <a:spAutoFit/>
          </a:bodyPr>
          <a:lstStyle/>
          <a:p>
            <a:pPr algn="l">
              <a:lnSpc>
                <a:spcPct val="122000"/>
              </a:lnSpc>
              <a:spcAft>
                <a:spcPts val="600"/>
              </a:spcAft>
            </a:pPr>
            <a:r>
              <a:rPr sz="1350" b="1" i="0">
                <a:solidFill>
                  <a:srgbClr val="255C45"/>
                </a:solidFill>
                <a:latin typeface="Calibri"/>
              </a:rPr>
              <a:t>These findings are now enforced, not just recorded. </a:t>
            </a:r>
            <a:r>
              <a:rPr sz="1350" b="0" i="0">
                <a:solidFill>
                  <a:srgbClr val="262626"/>
                </a:solidFill>
                <a:latin typeface="Calibri"/>
              </a:rPr>
              <a:t>All three tools built on this graph exclude owl:deprecated properties, and the nightly catalogue rebuild reports which datasets still carry retired data — so the gap stays visible instead of decaying back into folklore.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3</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Do you envisage collaboration with other
Member States or Union entities?</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Collaboration is already the operating model, not an aspiration.</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4</a:t>
            </a:r>
          </a:p>
        </p:txBody>
      </p:sp>
      <p:sp>
        <p:nvSpPr>
          <p:cNvPr id="9" name="TextBox 8"/>
          <p:cNvSpPr txBox="1"/>
          <p:nvPr/>
        </p:nvSpPr>
        <p:spPr>
          <a:xfrm>
            <a:off x="566928" y="1965960"/>
            <a:ext cx="6675120" cy="3840480"/>
          </a:xfrm>
          <a:prstGeom prst="rect">
            <a:avLst/>
          </a:prstGeom>
          <a:noFill/>
        </p:spPr>
        <p:txBody>
          <a:bodyPr wrap="square" lIns="0" tIns="0" rIns="0" bIns="0">
            <a:spAutoFit/>
          </a:bodyPr>
          <a:lstStyle/>
          <a:p>
            <a:pPr algn="l">
              <a:lnSpc>
                <a:spcPct val="128000"/>
              </a:lnSpc>
              <a:spcAft>
                <a:spcPts val="900"/>
              </a:spcAft>
            </a:pPr>
            <a:r>
              <a:rPr sz="1350" b="1" i="0">
                <a:solidFill>
                  <a:srgbClr val="3F7BD1"/>
                </a:solidFill>
                <a:latin typeface="Calibri"/>
              </a:rPr>
              <a:t>▪  </a:t>
            </a:r>
            <a:r>
              <a:rPr sz="1350" b="1" i="0">
                <a:solidFill>
                  <a:srgbClr val="2E4372"/>
                </a:solidFill>
                <a:latin typeface="Calibri"/>
              </a:rPr>
              <a:t>Standardisation bodies. </a:t>
            </a:r>
            <a:r>
              <a:rPr sz="1350" b="0" i="0">
                <a:solidFill>
                  <a:srgbClr val="262626"/>
                </a:solidFill>
                <a:latin typeface="Calibri"/>
              </a:rPr>
              <a:t>Memorandum of Intent with railML.org signed 30 May 2023; ontologies jointly published and railML→RINF transformations developed.</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The Publications Office. </a:t>
            </a:r>
            <a:r>
              <a:rPr sz="1350" b="0" i="0">
                <a:solidFill>
                  <a:srgbClr val="262626"/>
                </a:solidFill>
                <a:latin typeface="Calibri"/>
              </a:rPr>
              <a:t>ERA mints no country codes — the graph points straight at the EU authority tables. Reusing existing EU semantic assets is a deliberate choice.</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W3C and OGC. </a:t>
            </a:r>
            <a:r>
              <a:rPr sz="1350" b="0" i="0">
                <a:solidFill>
                  <a:srgbClr val="262626"/>
                </a:solidFill>
                <a:latin typeface="Calibri"/>
              </a:rPr>
              <a:t>GeoSPARQL, SKOS, PROV, ORG and OWL-Time are imported rather than geometry, provenance and organisations being reinvented.</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Member States and infrastructure managers, </a:t>
            </a:r>
            <a:r>
              <a:rPr sz="1350" b="0" i="0">
                <a:solidFill>
                  <a:srgbClr val="262626"/>
                </a:solidFill>
                <a:latin typeface="Calibri"/>
              </a:rPr>
              <a:t>through the National Registration Entities the RINF Regulation requires, and a public GitLab tracker where every change request is visible.</a:t>
            </a:r>
          </a:p>
        </p:txBody>
      </p:sp>
      <p:sp>
        <p:nvSpPr>
          <p:cNvPr id="10" name="Rectangle 9"/>
          <p:cNvSpPr/>
          <p:nvPr/>
        </p:nvSpPr>
        <p:spPr>
          <a:xfrm>
            <a:off x="7543800" y="1965960"/>
            <a:ext cx="4087368" cy="182880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52360" y="1965960"/>
            <a:ext cx="45719" cy="1828800"/>
          </a:xfrm>
          <a:prstGeom prst="rect">
            <a:avLst/>
          </a:prstGeom>
          <a:solidFill>
            <a:srgbClr val="255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53528" y="2093976"/>
            <a:ext cx="3794760" cy="1298448"/>
          </a:xfrm>
          <a:prstGeom prst="rect">
            <a:avLst/>
          </a:prstGeom>
          <a:noFill/>
        </p:spPr>
        <p:txBody>
          <a:bodyPr wrap="square" lIns="0" tIns="0" rIns="0" bIns="0">
            <a:spAutoFit/>
          </a:bodyPr>
          <a:lstStyle/>
          <a:p>
            <a:pPr algn="l">
              <a:lnSpc>
                <a:spcPct val="122000"/>
              </a:lnSpc>
              <a:spcAft>
                <a:spcPts val="600"/>
              </a:spcAft>
            </a:pPr>
            <a:r>
              <a:rPr sz="1350" b="1" i="0" dirty="0">
                <a:solidFill>
                  <a:srgbClr val="255C45"/>
                </a:solidFill>
                <a:latin typeface="Calibri"/>
              </a:rPr>
              <a:t>Adoption beyond the mandate. </a:t>
            </a:r>
            <a:r>
              <a:rPr sz="1350" b="0" i="0" dirty="0">
                <a:solidFill>
                  <a:srgbClr val="262626"/>
                </a:solidFill>
                <a:latin typeface="Calibri"/>
              </a:rPr>
              <a:t>Bane NOR, the Norwegian infrastructure manager, publishes its own station data with the ERA ontology on its own Linked Data server — outside the EU compliance perimeter, visible in the shared graph. Voluntary adoption is the clearest evidence that the model is reusable on its merits.</a:t>
            </a:r>
          </a:p>
        </p:txBody>
      </p:sp>
      <p:sp>
        <p:nvSpPr>
          <p:cNvPr id="13" name="TextBox 12"/>
          <p:cNvSpPr txBox="1"/>
          <p:nvPr/>
        </p:nvSpPr>
        <p:spPr>
          <a:xfrm>
            <a:off x="566928" y="4160520"/>
            <a:ext cx="11064240" cy="274320"/>
          </a:xfrm>
          <a:prstGeom prst="rect">
            <a:avLst/>
          </a:prstGeom>
          <a:noFill/>
        </p:spPr>
        <p:txBody>
          <a:bodyPr wrap="square" lIns="0" tIns="0" rIns="0" bIns="0">
            <a:spAutoFit/>
          </a:bodyPr>
          <a:lstStyle/>
          <a:p>
            <a:pPr algn="l">
              <a:lnSpc>
                <a:spcPct val="125000"/>
              </a:lnSpc>
              <a:spcAft>
                <a:spcPts val="600"/>
              </a:spcAft>
            </a:pPr>
            <a:r>
              <a:rPr sz="1300" b="1" i="0">
                <a:solidFill>
                  <a:srgbClr val="2E4372"/>
                </a:solidFill>
                <a:latin typeface="Calibri"/>
              </a:rPr>
              <a:t>Next steps we would welcome partners on</a:t>
            </a:r>
          </a:p>
        </p:txBody>
      </p:sp>
      <p:sp>
        <p:nvSpPr>
          <p:cNvPr id="14" name="TextBox 13"/>
          <p:cNvSpPr txBox="1"/>
          <p:nvPr/>
        </p:nvSpPr>
        <p:spPr>
          <a:xfrm>
            <a:off x="566928" y="4526280"/>
            <a:ext cx="11064240" cy="914400"/>
          </a:xfrm>
          <a:prstGeom prst="rect">
            <a:avLst/>
          </a:prstGeom>
          <a:noFill/>
        </p:spPr>
        <p:txBody>
          <a:bodyPr wrap="square" lIns="0" tIns="0" rIns="0" bIns="0">
            <a:spAutoFit/>
          </a:bodyPr>
          <a:lstStyle/>
          <a:p>
            <a:pPr algn="l">
              <a:lnSpc>
                <a:spcPct val="130000"/>
              </a:lnSpc>
              <a:spcAft>
                <a:spcPts val="600"/>
              </a:spcAft>
            </a:pPr>
            <a:r>
              <a:rPr sz="1300" b="0" i="0">
                <a:solidFill>
                  <a:srgbClr val="262626"/>
                </a:solidFill>
                <a:latin typeface="Calibri"/>
              </a:rPr>
              <a:t>European Mobility Data Space and National Access Points  ·  publishing ERATV, EVR and ERADIS data as openly as RINF already is  ·  closing the value-set validation gaps  ·  contributing the pattern back to SEMIC as a reusable design rather than a rail artefact.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4</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Is it suitable for local, regional
or national administrations?</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Yes, at every level — because the unit of publication is the dataset, not the country.</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5</a:t>
            </a:r>
          </a:p>
        </p:txBody>
      </p:sp>
      <p:sp>
        <p:nvSpPr>
          <p:cNvPr id="9" name="TextBox 8"/>
          <p:cNvSpPr txBox="1"/>
          <p:nvPr/>
        </p:nvSpPr>
        <p:spPr>
          <a:xfrm>
            <a:off x="566928" y="2011680"/>
            <a:ext cx="6309360" cy="274320"/>
          </a:xfrm>
          <a:prstGeom prst="rect">
            <a:avLst/>
          </a:prstGeom>
          <a:noFill/>
        </p:spPr>
        <p:txBody>
          <a:bodyPr wrap="square" lIns="0" tIns="0" rIns="0" bIns="0">
            <a:spAutoFit/>
          </a:bodyPr>
          <a:lstStyle/>
          <a:p>
            <a:pPr algn="l">
              <a:lnSpc>
                <a:spcPct val="125000"/>
              </a:lnSpc>
              <a:spcAft>
                <a:spcPts val="600"/>
              </a:spcAft>
            </a:pPr>
            <a:r>
              <a:rPr sz="1300" b="1" i="0">
                <a:solidFill>
                  <a:srgbClr val="2E4372"/>
                </a:solidFill>
                <a:latin typeface="Calibri"/>
              </a:rPr>
              <a:t>Publishing organisations per country — 54 datasets, 27 countries</a:t>
            </a:r>
          </a:p>
        </p:txBody>
      </p:sp>
      <p:sp>
        <p:nvSpPr>
          <p:cNvPr id="10" name="TextBox 9"/>
          <p:cNvSpPr txBox="1"/>
          <p:nvPr/>
        </p:nvSpPr>
        <p:spPr>
          <a:xfrm>
            <a:off x="566928" y="2414016"/>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Italy</a:t>
            </a:r>
          </a:p>
        </p:txBody>
      </p:sp>
      <p:sp>
        <p:nvSpPr>
          <p:cNvPr id="11" name="Rectangle 10"/>
          <p:cNvSpPr/>
          <p:nvPr/>
        </p:nvSpPr>
        <p:spPr>
          <a:xfrm>
            <a:off x="2258568" y="2432304"/>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258568" y="2432304"/>
            <a:ext cx="3840480" cy="256032"/>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90488" y="2414016"/>
            <a:ext cx="777240" cy="256032"/>
          </a:xfrm>
          <a:prstGeom prst="rect">
            <a:avLst/>
          </a:prstGeom>
          <a:noFill/>
        </p:spPr>
        <p:txBody>
          <a:bodyPr wrap="square" lIns="0" tIns="0" rIns="0" bIns="0">
            <a:spAutoFit/>
          </a:bodyPr>
          <a:lstStyle/>
          <a:p>
            <a:pPr algn="l">
              <a:lnSpc>
                <a:spcPct val="100000"/>
              </a:lnSpc>
              <a:spcAft>
                <a:spcPts val="600"/>
              </a:spcAft>
            </a:pPr>
            <a:r>
              <a:rPr sz="1150" b="1" i="0">
                <a:solidFill>
                  <a:srgbClr val="2E4372"/>
                </a:solidFill>
                <a:latin typeface="Calibri"/>
              </a:rPr>
              <a:t>9</a:t>
            </a:r>
          </a:p>
        </p:txBody>
      </p:sp>
      <p:sp>
        <p:nvSpPr>
          <p:cNvPr id="14" name="TextBox 13"/>
          <p:cNvSpPr txBox="1"/>
          <p:nvPr/>
        </p:nvSpPr>
        <p:spPr>
          <a:xfrm>
            <a:off x="566928" y="2788920"/>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Austria</a:t>
            </a:r>
          </a:p>
        </p:txBody>
      </p:sp>
      <p:sp>
        <p:nvSpPr>
          <p:cNvPr id="15" name="Rectangle 14"/>
          <p:cNvSpPr/>
          <p:nvPr/>
        </p:nvSpPr>
        <p:spPr>
          <a:xfrm>
            <a:off x="2258568" y="2807208"/>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258568" y="2807208"/>
            <a:ext cx="341376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90488" y="2788920"/>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8</a:t>
            </a:r>
          </a:p>
        </p:txBody>
      </p:sp>
      <p:sp>
        <p:nvSpPr>
          <p:cNvPr id="18" name="TextBox 17"/>
          <p:cNvSpPr txBox="1"/>
          <p:nvPr/>
        </p:nvSpPr>
        <p:spPr>
          <a:xfrm>
            <a:off x="566928" y="3163824"/>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France</a:t>
            </a:r>
          </a:p>
        </p:txBody>
      </p:sp>
      <p:sp>
        <p:nvSpPr>
          <p:cNvPr id="19" name="Rectangle 18"/>
          <p:cNvSpPr/>
          <p:nvPr/>
        </p:nvSpPr>
        <p:spPr>
          <a:xfrm>
            <a:off x="2258568" y="3182112"/>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258568" y="3182112"/>
            <a:ext cx="298704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90488" y="3163824"/>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7</a:t>
            </a:r>
          </a:p>
        </p:txBody>
      </p:sp>
      <p:sp>
        <p:nvSpPr>
          <p:cNvPr id="22" name="TextBox 21"/>
          <p:cNvSpPr txBox="1"/>
          <p:nvPr/>
        </p:nvSpPr>
        <p:spPr>
          <a:xfrm>
            <a:off x="566928" y="3538728"/>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Sweden</a:t>
            </a:r>
          </a:p>
        </p:txBody>
      </p:sp>
      <p:sp>
        <p:nvSpPr>
          <p:cNvPr id="23" name="Rectangle 22"/>
          <p:cNvSpPr/>
          <p:nvPr/>
        </p:nvSpPr>
        <p:spPr>
          <a:xfrm>
            <a:off x="2258568" y="3557016"/>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258568" y="3557016"/>
            <a:ext cx="170688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90488" y="3538728"/>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4</a:t>
            </a:r>
          </a:p>
        </p:txBody>
      </p:sp>
      <p:sp>
        <p:nvSpPr>
          <p:cNvPr id="26" name="TextBox 25"/>
          <p:cNvSpPr txBox="1"/>
          <p:nvPr/>
        </p:nvSpPr>
        <p:spPr>
          <a:xfrm>
            <a:off x="566928" y="3913632"/>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Germany</a:t>
            </a:r>
          </a:p>
        </p:txBody>
      </p:sp>
      <p:sp>
        <p:nvSpPr>
          <p:cNvPr id="27" name="Rectangle 26"/>
          <p:cNvSpPr/>
          <p:nvPr/>
        </p:nvSpPr>
        <p:spPr>
          <a:xfrm>
            <a:off x="2258568" y="3931920"/>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258568" y="3931920"/>
            <a:ext cx="85344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190488" y="3913632"/>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a:t>
            </a:r>
          </a:p>
        </p:txBody>
      </p:sp>
      <p:sp>
        <p:nvSpPr>
          <p:cNvPr id="30" name="TextBox 29"/>
          <p:cNvSpPr txBox="1"/>
          <p:nvPr/>
        </p:nvSpPr>
        <p:spPr>
          <a:xfrm>
            <a:off x="566928" y="4288536"/>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Finland</a:t>
            </a:r>
          </a:p>
        </p:txBody>
      </p:sp>
      <p:sp>
        <p:nvSpPr>
          <p:cNvPr id="31" name="Rectangle 30"/>
          <p:cNvSpPr/>
          <p:nvPr/>
        </p:nvSpPr>
        <p:spPr>
          <a:xfrm>
            <a:off x="2258568" y="4306824"/>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258568" y="4306824"/>
            <a:ext cx="85344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190488" y="4288536"/>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a:t>
            </a:r>
          </a:p>
        </p:txBody>
      </p:sp>
      <p:sp>
        <p:nvSpPr>
          <p:cNvPr id="34" name="TextBox 33"/>
          <p:cNvSpPr txBox="1"/>
          <p:nvPr/>
        </p:nvSpPr>
        <p:spPr>
          <a:xfrm>
            <a:off x="566928" y="4663440"/>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Switzerland</a:t>
            </a:r>
          </a:p>
        </p:txBody>
      </p:sp>
      <p:sp>
        <p:nvSpPr>
          <p:cNvPr id="35" name="Rectangle 34"/>
          <p:cNvSpPr/>
          <p:nvPr/>
        </p:nvSpPr>
        <p:spPr>
          <a:xfrm>
            <a:off x="2258568" y="4681728"/>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258568" y="4681728"/>
            <a:ext cx="85344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90488" y="4663440"/>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a:t>
            </a:r>
          </a:p>
        </p:txBody>
      </p:sp>
      <p:sp>
        <p:nvSpPr>
          <p:cNvPr id="38" name="TextBox 37"/>
          <p:cNvSpPr txBox="1"/>
          <p:nvPr/>
        </p:nvSpPr>
        <p:spPr>
          <a:xfrm>
            <a:off x="566928" y="5038344"/>
            <a:ext cx="1581912" cy="256032"/>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20 other countries</a:t>
            </a:r>
          </a:p>
        </p:txBody>
      </p:sp>
      <p:sp>
        <p:nvSpPr>
          <p:cNvPr id="39" name="Rectangle 38"/>
          <p:cNvSpPr/>
          <p:nvPr/>
        </p:nvSpPr>
        <p:spPr>
          <a:xfrm>
            <a:off x="2258568" y="5056632"/>
            <a:ext cx="3840480" cy="256032"/>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2258568" y="5056632"/>
            <a:ext cx="426720" cy="256032"/>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90488" y="5038344"/>
            <a:ext cx="777240" cy="256032"/>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1 each</a:t>
            </a:r>
          </a:p>
        </p:txBody>
      </p:sp>
      <p:sp>
        <p:nvSpPr>
          <p:cNvPr id="42" name="TextBox 41"/>
          <p:cNvSpPr txBox="1"/>
          <p:nvPr/>
        </p:nvSpPr>
        <p:spPr>
          <a:xfrm>
            <a:off x="2258568" y="5486400"/>
            <a:ext cx="4617720" cy="274320"/>
          </a:xfrm>
          <a:prstGeom prst="rect">
            <a:avLst/>
          </a:prstGeom>
          <a:noFill/>
        </p:spPr>
        <p:txBody>
          <a:bodyPr wrap="square" lIns="0" tIns="0" rIns="0" bIns="0">
            <a:spAutoFit/>
          </a:bodyPr>
          <a:lstStyle/>
          <a:p>
            <a:pPr algn="l">
              <a:lnSpc>
                <a:spcPct val="125000"/>
              </a:lnSpc>
              <a:spcAft>
                <a:spcPts val="600"/>
              </a:spcAft>
            </a:pPr>
            <a:r>
              <a:rPr sz="1000" b="0" i="1">
                <a:solidFill>
                  <a:srgbClr val="5B6577"/>
                </a:solidFill>
                <a:latin typeface="Calibri"/>
              </a:rPr>
              <a:t>small regional and private managers publish alongside national incumbents</a:t>
            </a:r>
          </a:p>
        </p:txBody>
      </p:sp>
      <p:sp>
        <p:nvSpPr>
          <p:cNvPr id="43" name="TextBox 42"/>
          <p:cNvSpPr txBox="1"/>
          <p:nvPr/>
        </p:nvSpPr>
        <p:spPr>
          <a:xfrm>
            <a:off x="7178040" y="2011680"/>
            <a:ext cx="4453128" cy="3291840"/>
          </a:xfrm>
          <a:prstGeom prst="rect">
            <a:avLst/>
          </a:prstGeom>
          <a:noFill/>
        </p:spPr>
        <p:txBody>
          <a:bodyPr wrap="square" lIns="0" tIns="0" rIns="0" bIns="0">
            <a:spAutoFit/>
          </a:bodyPr>
          <a:lstStyle/>
          <a:p>
            <a:pPr algn="l">
              <a:lnSpc>
                <a:spcPct val="128000"/>
              </a:lnSpc>
              <a:spcAft>
                <a:spcPts val="900"/>
              </a:spcAft>
            </a:pPr>
            <a:r>
              <a:rPr sz="1350" b="1" i="0">
                <a:solidFill>
                  <a:srgbClr val="3F7BD1"/>
                </a:solidFill>
                <a:latin typeface="Calibri"/>
              </a:rPr>
              <a:t>▪  </a:t>
            </a:r>
            <a:r>
              <a:rPr sz="1350" b="1" i="0">
                <a:solidFill>
                  <a:srgbClr val="2E4372"/>
                </a:solidFill>
                <a:latin typeface="Calibri"/>
              </a:rPr>
              <a:t>Not a national-champions model. </a:t>
            </a:r>
            <a:r>
              <a:rPr sz="1350" b="0" i="0">
                <a:solidFill>
                  <a:srgbClr val="262626"/>
                </a:solidFill>
                <a:latin typeface="Calibri"/>
              </a:rPr>
              <a:t>No entity has to be large to participate; every publisher appears in the same cross-border queries.</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The granularity supports local asset management, </a:t>
            </a:r>
            <a:r>
              <a:rPr sz="1350" b="0" i="0">
                <a:solidFill>
                  <a:srgbClr val="262626"/>
                </a:solidFill>
                <a:latin typeface="Calibri"/>
              </a:rPr>
              <a:t>not only strategic planning — platforms, sidings, level crossings, tunnels, bridges, signals and kilometric posts are all modelled.</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Value arrives before anyone else joins. </a:t>
            </a:r>
            <a:r>
              <a:rPr sz="1350" b="0" i="0">
                <a:solidFill>
                  <a:srgbClr val="262626"/>
                </a:solidFill>
                <a:latin typeface="Calibri"/>
              </a:rPr>
              <a:t>A regional authority adopting it for its own network gets consistent asset descriptions validated against the shipped SHACL shapes on day 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5</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Does it need central governance?</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Two things must be separated, and the honest answer differs for each.</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6</a:t>
            </a:r>
          </a:p>
        </p:txBody>
      </p:sp>
      <p:sp>
        <p:nvSpPr>
          <p:cNvPr id="9" name="Rectangle 8"/>
          <p:cNvSpPr/>
          <p:nvPr/>
        </p:nvSpPr>
        <p:spPr>
          <a:xfrm>
            <a:off x="566928" y="2148840"/>
            <a:ext cx="5440680" cy="1874519"/>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2148840"/>
            <a:ext cx="5440680" cy="45720"/>
          </a:xfrm>
          <a:prstGeom prst="rect">
            <a:avLst/>
          </a:prstGeom>
          <a:solidFill>
            <a:srgbClr val="2E4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377440"/>
            <a:ext cx="4892040" cy="365760"/>
          </a:xfrm>
          <a:prstGeom prst="rect">
            <a:avLst/>
          </a:prstGeom>
          <a:noFill/>
        </p:spPr>
        <p:txBody>
          <a:bodyPr wrap="square" lIns="0" tIns="0" rIns="0" bIns="0">
            <a:spAutoFit/>
          </a:bodyPr>
          <a:lstStyle/>
          <a:p>
            <a:pPr algn="l">
              <a:lnSpc>
                <a:spcPct val="125000"/>
              </a:lnSpc>
              <a:spcAft>
                <a:spcPts val="600"/>
              </a:spcAft>
            </a:pPr>
            <a:r>
              <a:rPr sz="1500" b="1" i="0">
                <a:solidFill>
                  <a:srgbClr val="2E4372"/>
                </a:solidFill>
                <a:latin typeface="Calibri"/>
              </a:rPr>
              <a:t>The vocabulary — central, non-negotiable</a:t>
            </a:r>
          </a:p>
        </p:txBody>
      </p:sp>
      <p:sp>
        <p:nvSpPr>
          <p:cNvPr id="12" name="TextBox 11"/>
          <p:cNvSpPr txBox="1"/>
          <p:nvPr/>
        </p:nvSpPr>
        <p:spPr>
          <a:xfrm>
            <a:off x="841248" y="2816352"/>
            <a:ext cx="4892040" cy="1143000"/>
          </a:xfrm>
          <a:prstGeom prst="rect">
            <a:avLst/>
          </a:prstGeom>
          <a:noFill/>
        </p:spPr>
        <p:txBody>
          <a:bodyPr wrap="square" lIns="0" tIns="0" rIns="0" bIns="0">
            <a:spAutoFit/>
          </a:bodyPr>
          <a:lstStyle/>
          <a:p>
            <a:pPr algn="l">
              <a:lnSpc>
                <a:spcPct val="130000"/>
              </a:lnSpc>
              <a:spcAft>
                <a:spcPts val="700"/>
              </a:spcAft>
            </a:pPr>
            <a:r>
              <a:rPr sz="1250" b="0" i="0">
                <a:solidFill>
                  <a:srgbClr val="262626"/>
                </a:solidFill>
                <a:latin typeface="Calibri"/>
              </a:rPr>
              <a:t>A shared meaning must have exactly one owner: one version line (v3.3.4), one licence (EUPL 1.2), a public repository and an archival DOI.</a:t>
            </a:r>
          </a:p>
          <a:p>
            <a:pPr algn="l">
              <a:lnSpc>
                <a:spcPct val="130000"/>
              </a:lnSpc>
              <a:spcAft>
                <a:spcPts val="700"/>
              </a:spcAft>
            </a:pPr>
            <a:r>
              <a:rPr sz="1250" b="0" i="0">
                <a:solidFill>
                  <a:srgbClr val="262626"/>
                </a:solidFill>
                <a:latin typeface="Calibri"/>
              </a:rPr>
              <a:t>Without that you do not get one vocabulary used 27 times. You get 27 dialects.</a:t>
            </a:r>
          </a:p>
          <a:p>
            <a:pPr algn="l">
              <a:lnSpc>
                <a:spcPct val="130000"/>
              </a:lnSpc>
              <a:spcAft>
                <a:spcPts val="700"/>
              </a:spcAft>
            </a:pPr>
            <a:r>
              <a:rPr sz="1250" b="0" i="0">
                <a:solidFill>
                  <a:srgbClr val="262626"/>
                </a:solidFill>
                <a:latin typeface="Calibri"/>
              </a:rPr>
              <a:t>And it has to extend to what is loaded, not stop at what is published — the governed artefact is clean, yet the deployed graph carries concepts that were never in it.</a:t>
            </a:r>
          </a:p>
        </p:txBody>
      </p:sp>
      <p:sp>
        <p:nvSpPr>
          <p:cNvPr id="13" name="Rectangle 12"/>
          <p:cNvSpPr/>
          <p:nvPr/>
        </p:nvSpPr>
        <p:spPr>
          <a:xfrm>
            <a:off x="6190488" y="2148840"/>
            <a:ext cx="5440680" cy="1874519"/>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0488" y="2148840"/>
            <a:ext cx="5440680" cy="45720"/>
          </a:xfrm>
          <a:prstGeom prst="rect">
            <a:avLst/>
          </a:prstGeom>
          <a:solidFill>
            <a:srgbClr val="255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8" y="2377440"/>
            <a:ext cx="4892040" cy="365760"/>
          </a:xfrm>
          <a:prstGeom prst="rect">
            <a:avLst/>
          </a:prstGeom>
          <a:noFill/>
        </p:spPr>
        <p:txBody>
          <a:bodyPr wrap="square" lIns="0" tIns="0" rIns="0" bIns="0">
            <a:spAutoFit/>
          </a:bodyPr>
          <a:lstStyle/>
          <a:p>
            <a:pPr algn="l">
              <a:lnSpc>
                <a:spcPct val="125000"/>
              </a:lnSpc>
              <a:spcAft>
                <a:spcPts val="600"/>
              </a:spcAft>
            </a:pPr>
            <a:r>
              <a:rPr sz="1500" b="1" i="0">
                <a:solidFill>
                  <a:srgbClr val="255C45"/>
                </a:solidFill>
                <a:latin typeface="Calibri"/>
              </a:rPr>
              <a:t>The deployment — decentralised, immediate</a:t>
            </a:r>
          </a:p>
        </p:txBody>
      </p:sp>
      <p:sp>
        <p:nvSpPr>
          <p:cNvPr id="16" name="TextBox 15"/>
          <p:cNvSpPr txBox="1"/>
          <p:nvPr/>
        </p:nvSpPr>
        <p:spPr>
          <a:xfrm>
            <a:off x="6464808" y="2816352"/>
            <a:ext cx="4892040" cy="1143000"/>
          </a:xfrm>
          <a:prstGeom prst="rect">
            <a:avLst/>
          </a:prstGeom>
          <a:noFill/>
        </p:spPr>
        <p:txBody>
          <a:bodyPr wrap="square" lIns="0" tIns="0" rIns="0" bIns="0">
            <a:spAutoFit/>
          </a:bodyPr>
          <a:lstStyle/>
          <a:p>
            <a:pPr algn="l">
              <a:lnSpc>
                <a:spcPct val="130000"/>
              </a:lnSpc>
              <a:spcAft>
                <a:spcPts val="700"/>
              </a:spcAft>
            </a:pPr>
            <a:r>
              <a:rPr sz="1250" b="0" i="0">
                <a:solidFill>
                  <a:srgbClr val="262626"/>
                </a:solidFill>
                <a:latin typeface="Calibri"/>
              </a:rPr>
              <a:t>Benefit accrues per publisher. Each entity that adopts the vocabulary gets value before anyone else joins: its own data becomes queryable, comparable year-on-year and testable against the SHACL shapes.</a:t>
            </a:r>
          </a:p>
          <a:p>
            <a:pPr algn="l">
              <a:lnSpc>
                <a:spcPct val="130000"/>
              </a:lnSpc>
              <a:spcAft>
                <a:spcPts val="700"/>
              </a:spcAft>
            </a:pPr>
            <a:r>
              <a:rPr sz="1250" b="0" i="0">
                <a:solidFill>
                  <a:srgbClr val="262626"/>
                </a:solidFill>
                <a:latin typeface="Calibri"/>
              </a:rPr>
              <a:t>Bane NOR demonstrates exactly this — it derives value publishing essentially alone, outside the EU mandate.</a:t>
            </a:r>
          </a:p>
        </p:txBody>
      </p:sp>
      <p:sp>
        <p:nvSpPr>
          <p:cNvPr id="17" name="Rectangle 16"/>
          <p:cNvSpPr/>
          <p:nvPr/>
        </p:nvSpPr>
        <p:spPr>
          <a:xfrm>
            <a:off x="566928" y="4315968"/>
            <a:ext cx="11064240" cy="731520"/>
          </a:xfrm>
          <a:prstGeom prst="rect">
            <a:avLst/>
          </a:prstGeom>
          <a:solidFill>
            <a:srgbClr val="FBF1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4315968"/>
            <a:ext cx="45720" cy="731520"/>
          </a:xfrm>
          <a:prstGeom prst="rect">
            <a:avLst/>
          </a:prstGeom>
          <a:solidFill>
            <a:srgbClr val="8A56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4443984"/>
            <a:ext cx="10680192" cy="548640"/>
          </a:xfrm>
          <a:prstGeom prst="rect">
            <a:avLst/>
          </a:prstGeom>
          <a:noFill/>
        </p:spPr>
        <p:txBody>
          <a:bodyPr wrap="square" lIns="0" tIns="0" rIns="0" bIns="0">
            <a:spAutoFit/>
          </a:bodyPr>
          <a:lstStyle/>
          <a:p>
            <a:pPr algn="l">
              <a:lnSpc>
                <a:spcPct val="122000"/>
              </a:lnSpc>
              <a:spcAft>
                <a:spcPts val="600"/>
              </a:spcAft>
            </a:pPr>
            <a:r>
              <a:rPr sz="1350" b="1" i="0" dirty="0">
                <a:solidFill>
                  <a:srgbClr val="8A5610"/>
                </a:solidFill>
                <a:latin typeface="Calibri"/>
              </a:rPr>
              <a:t>The realistic caveat. </a:t>
            </a:r>
            <a:r>
              <a:rPr sz="1350" b="0" i="0" dirty="0">
                <a:solidFill>
                  <a:srgbClr val="262626"/>
                </a:solidFill>
                <a:latin typeface="Calibri"/>
              </a:rPr>
              <a:t>Cross-border value requires both critical mass and conformance. Partial deployment with local variation is the worst of both worlds — it produces the appearance of interoperability without the substance, because queries return plausible but incomplete answers. Partial deployment with conformance is genuinely useful from the first publisher onward.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6</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Cross-border data exchange
and EU sovereignty</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Route compatibility spans three registers at once — so one shared vocabulary turns an integration project into a query.</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7</a:t>
            </a:r>
          </a:p>
        </p:txBody>
      </p:sp>
      <p:sp>
        <p:nvSpPr>
          <p:cNvPr id="9" name="TextBox 8"/>
          <p:cNvSpPr txBox="1"/>
          <p:nvPr/>
        </p:nvSpPr>
        <p:spPr>
          <a:xfrm>
            <a:off x="566928" y="2103120"/>
            <a:ext cx="5852160" cy="274320"/>
          </a:xfrm>
          <a:prstGeom prst="rect">
            <a:avLst/>
          </a:prstGeom>
          <a:noFill/>
        </p:spPr>
        <p:txBody>
          <a:bodyPr wrap="square" lIns="0" tIns="0" rIns="0" bIns="0">
            <a:spAutoFit/>
          </a:bodyPr>
          <a:lstStyle/>
          <a:p>
            <a:pPr algn="l">
              <a:lnSpc>
                <a:spcPct val="125000"/>
              </a:lnSpc>
              <a:spcAft>
                <a:spcPts val="600"/>
              </a:spcAft>
            </a:pPr>
            <a:r>
              <a:rPr sz="1300" b="1" i="0">
                <a:solidFill>
                  <a:srgbClr val="2E4372"/>
                </a:solidFill>
                <a:latin typeface="Calibri"/>
              </a:rPr>
              <a:t>One question, the whole European gauge landscape — RINF 1.1.1.1.4.1</a:t>
            </a:r>
          </a:p>
        </p:txBody>
      </p:sp>
      <p:sp>
        <p:nvSpPr>
          <p:cNvPr id="10" name="TextBox 9"/>
          <p:cNvSpPr txBox="1"/>
          <p:nvPr/>
        </p:nvSpPr>
        <p:spPr>
          <a:xfrm>
            <a:off x="566928" y="2505456"/>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1435  standard</a:t>
            </a:r>
          </a:p>
        </p:txBody>
      </p:sp>
      <p:sp>
        <p:nvSpPr>
          <p:cNvPr id="11" name="Rectangle 10"/>
          <p:cNvSpPr/>
          <p:nvPr/>
        </p:nvSpPr>
        <p:spPr>
          <a:xfrm>
            <a:off x="2350008" y="2523744"/>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50008" y="2523744"/>
            <a:ext cx="3200400" cy="237744"/>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41848" y="2505456"/>
            <a:ext cx="868680" cy="237744"/>
          </a:xfrm>
          <a:prstGeom prst="rect">
            <a:avLst/>
          </a:prstGeom>
          <a:noFill/>
        </p:spPr>
        <p:txBody>
          <a:bodyPr wrap="square" lIns="0" tIns="0" rIns="0" bIns="0">
            <a:spAutoFit/>
          </a:bodyPr>
          <a:lstStyle/>
          <a:p>
            <a:pPr algn="l">
              <a:lnSpc>
                <a:spcPct val="100000"/>
              </a:lnSpc>
              <a:spcAft>
                <a:spcPts val="600"/>
              </a:spcAft>
            </a:pPr>
            <a:r>
              <a:rPr sz="1150" b="1" i="0">
                <a:solidFill>
                  <a:srgbClr val="2E4372"/>
                </a:solidFill>
                <a:latin typeface="Calibri"/>
              </a:rPr>
              <a:t>697,901</a:t>
            </a:r>
          </a:p>
        </p:txBody>
      </p:sp>
      <p:sp>
        <p:nvSpPr>
          <p:cNvPr id="14" name="TextBox 13"/>
          <p:cNvSpPr txBox="1"/>
          <p:nvPr/>
        </p:nvSpPr>
        <p:spPr>
          <a:xfrm>
            <a:off x="566928" y="2862072"/>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1668  Iberian</a:t>
            </a:r>
          </a:p>
        </p:txBody>
      </p:sp>
      <p:sp>
        <p:nvSpPr>
          <p:cNvPr id="15" name="Rectangle 14"/>
          <p:cNvSpPr/>
          <p:nvPr/>
        </p:nvSpPr>
        <p:spPr>
          <a:xfrm>
            <a:off x="2350008" y="2880360"/>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350008" y="2880360"/>
            <a:ext cx="60875"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41848" y="2862072"/>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13,275</a:t>
            </a:r>
          </a:p>
        </p:txBody>
      </p:sp>
      <p:sp>
        <p:nvSpPr>
          <p:cNvPr id="18" name="TextBox 17"/>
          <p:cNvSpPr txBox="1"/>
          <p:nvPr/>
        </p:nvSpPr>
        <p:spPr>
          <a:xfrm>
            <a:off x="566928" y="3218688"/>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1524  Finnish/Baltic</a:t>
            </a:r>
          </a:p>
        </p:txBody>
      </p:sp>
      <p:sp>
        <p:nvSpPr>
          <p:cNvPr id="19" name="Rectangle 18"/>
          <p:cNvSpPr/>
          <p:nvPr/>
        </p:nvSpPr>
        <p:spPr>
          <a:xfrm>
            <a:off x="2350008" y="3236976"/>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350008" y="3236976"/>
            <a:ext cx="12899"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41848" y="3218688"/>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2,813</a:t>
            </a:r>
          </a:p>
        </p:txBody>
      </p:sp>
      <p:sp>
        <p:nvSpPr>
          <p:cNvPr id="22" name="TextBox 21"/>
          <p:cNvSpPr txBox="1"/>
          <p:nvPr/>
        </p:nvSpPr>
        <p:spPr>
          <a:xfrm>
            <a:off x="566928" y="3575304"/>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1000  metre</a:t>
            </a:r>
          </a:p>
        </p:txBody>
      </p:sp>
      <p:sp>
        <p:nvSpPr>
          <p:cNvPr id="23" name="Rectangle 22"/>
          <p:cNvSpPr/>
          <p:nvPr/>
        </p:nvSpPr>
        <p:spPr>
          <a:xfrm>
            <a:off x="2350008" y="3593592"/>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350008" y="3593592"/>
            <a:ext cx="12592"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41848" y="3575304"/>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2,746</a:t>
            </a:r>
          </a:p>
        </p:txBody>
      </p:sp>
      <p:sp>
        <p:nvSpPr>
          <p:cNvPr id="26" name="TextBox 25"/>
          <p:cNvSpPr txBox="1"/>
          <p:nvPr/>
        </p:nvSpPr>
        <p:spPr>
          <a:xfrm>
            <a:off x="566928" y="3931920"/>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1520  ex-Soviet</a:t>
            </a:r>
          </a:p>
        </p:txBody>
      </p:sp>
      <p:sp>
        <p:nvSpPr>
          <p:cNvPr id="27" name="Rectangle 26"/>
          <p:cNvSpPr/>
          <p:nvPr/>
        </p:nvSpPr>
        <p:spPr>
          <a:xfrm>
            <a:off x="2350008" y="3950208"/>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2350008" y="3950208"/>
            <a:ext cx="9000"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41848" y="3931920"/>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1,826</a:t>
            </a:r>
          </a:p>
        </p:txBody>
      </p:sp>
      <p:sp>
        <p:nvSpPr>
          <p:cNvPr id="30" name="TextBox 29"/>
          <p:cNvSpPr txBox="1"/>
          <p:nvPr/>
        </p:nvSpPr>
        <p:spPr>
          <a:xfrm>
            <a:off x="566928" y="4288536"/>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1600  Irish</a:t>
            </a:r>
          </a:p>
        </p:txBody>
      </p:sp>
      <p:sp>
        <p:nvSpPr>
          <p:cNvPr id="31" name="Rectangle 30"/>
          <p:cNvSpPr/>
          <p:nvPr/>
        </p:nvSpPr>
        <p:spPr>
          <a:xfrm>
            <a:off x="2350008" y="4306824"/>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350008" y="4306824"/>
            <a:ext cx="9000"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41848" y="4288536"/>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274</a:t>
            </a:r>
          </a:p>
        </p:txBody>
      </p:sp>
      <p:sp>
        <p:nvSpPr>
          <p:cNvPr id="34" name="TextBox 33"/>
          <p:cNvSpPr txBox="1"/>
          <p:nvPr/>
        </p:nvSpPr>
        <p:spPr>
          <a:xfrm>
            <a:off x="566928" y="4645152"/>
            <a:ext cx="1673352" cy="237744"/>
          </a:xfrm>
          <a:prstGeom prst="rect">
            <a:avLst/>
          </a:prstGeom>
          <a:noFill/>
        </p:spPr>
        <p:txBody>
          <a:bodyPr wrap="square" lIns="0" tIns="0" rIns="0" bIns="0">
            <a:spAutoFit/>
          </a:bodyPr>
          <a:lstStyle/>
          <a:p>
            <a:pPr algn="r">
              <a:lnSpc>
                <a:spcPct val="100000"/>
              </a:lnSpc>
              <a:spcAft>
                <a:spcPts val="600"/>
              </a:spcAft>
            </a:pPr>
            <a:r>
              <a:rPr sz="1150" b="0" i="0">
                <a:solidFill>
                  <a:srgbClr val="262626"/>
                </a:solidFill>
                <a:latin typeface="Calibri"/>
              </a:rPr>
              <a:t>760 / 750</a:t>
            </a:r>
          </a:p>
        </p:txBody>
      </p:sp>
      <p:sp>
        <p:nvSpPr>
          <p:cNvPr id="35" name="Rectangle 34"/>
          <p:cNvSpPr/>
          <p:nvPr/>
        </p:nvSpPr>
        <p:spPr>
          <a:xfrm>
            <a:off x="2350008" y="4663440"/>
            <a:ext cx="3200400" cy="237744"/>
          </a:xfrm>
          <a:prstGeom prst="rect">
            <a:avLst/>
          </a:prstGeom>
          <a:solidFill>
            <a:srgbClr val="ED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350008" y="4663440"/>
            <a:ext cx="9000" cy="237744"/>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41848" y="4645152"/>
            <a:ext cx="868680" cy="237744"/>
          </a:xfrm>
          <a:prstGeom prst="rect">
            <a:avLst/>
          </a:prstGeom>
          <a:noFill/>
        </p:spPr>
        <p:txBody>
          <a:bodyPr wrap="square" lIns="0" tIns="0" rIns="0" bIns="0">
            <a:spAutoFit/>
          </a:bodyPr>
          <a:lstStyle/>
          <a:p>
            <a:pPr algn="l">
              <a:lnSpc>
                <a:spcPct val="100000"/>
              </a:lnSpc>
              <a:spcAft>
                <a:spcPts val="600"/>
              </a:spcAft>
            </a:pPr>
            <a:r>
              <a:rPr sz="1150" b="0" i="0">
                <a:solidFill>
                  <a:srgbClr val="262626"/>
                </a:solidFill>
                <a:latin typeface="Calibri"/>
              </a:rPr>
              <a:t>135</a:t>
            </a:r>
          </a:p>
        </p:txBody>
      </p:sp>
      <p:sp>
        <p:nvSpPr>
          <p:cNvPr id="38" name="TextBox 37"/>
          <p:cNvSpPr txBox="1"/>
          <p:nvPr/>
        </p:nvSpPr>
        <p:spPr>
          <a:xfrm>
            <a:off x="2350008" y="5074920"/>
            <a:ext cx="4069080" cy="274320"/>
          </a:xfrm>
          <a:prstGeom prst="rect">
            <a:avLst/>
          </a:prstGeom>
          <a:noFill/>
        </p:spPr>
        <p:txBody>
          <a:bodyPr wrap="square" lIns="0" tIns="0" rIns="0" bIns="0">
            <a:spAutoFit/>
          </a:bodyPr>
          <a:lstStyle/>
          <a:p>
            <a:pPr algn="l">
              <a:lnSpc>
                <a:spcPct val="125000"/>
              </a:lnSpc>
              <a:spcAft>
                <a:spcPts val="600"/>
              </a:spcAft>
            </a:pPr>
            <a:r>
              <a:rPr sz="1000" b="0" i="1">
                <a:solidFill>
                  <a:srgbClr val="5B6577"/>
                </a:solidFill>
                <a:latin typeface="Calibri"/>
              </a:rPr>
              <a:t>running tracks per gauge across 27 countries, from one query</a:t>
            </a:r>
          </a:p>
        </p:txBody>
      </p:sp>
      <p:sp>
        <p:nvSpPr>
          <p:cNvPr id="39" name="TextBox 38"/>
          <p:cNvSpPr txBox="1"/>
          <p:nvPr/>
        </p:nvSpPr>
        <p:spPr>
          <a:xfrm>
            <a:off x="6720840" y="2103120"/>
            <a:ext cx="4910328" cy="3566160"/>
          </a:xfrm>
          <a:prstGeom prst="rect">
            <a:avLst/>
          </a:prstGeom>
          <a:noFill/>
        </p:spPr>
        <p:txBody>
          <a:bodyPr wrap="square" lIns="0" tIns="0" rIns="0" bIns="0">
            <a:spAutoFit/>
          </a:bodyPr>
          <a:lstStyle/>
          <a:p>
            <a:pPr algn="l">
              <a:lnSpc>
                <a:spcPct val="128000"/>
              </a:lnSpc>
              <a:spcAft>
                <a:spcPts val="900"/>
              </a:spcAft>
            </a:pPr>
            <a:r>
              <a:rPr sz="1350" b="1" i="0">
                <a:solidFill>
                  <a:srgbClr val="3F7BD1"/>
                </a:solidFill>
                <a:latin typeface="Calibri"/>
              </a:rPr>
              <a:t>▪  </a:t>
            </a:r>
            <a:r>
              <a:rPr sz="1350" b="1" i="0">
                <a:solidFill>
                  <a:srgbClr val="2E4372"/>
                </a:solidFill>
                <a:latin typeface="Calibri"/>
              </a:rPr>
              <a:t>Custody stays national. </a:t>
            </a:r>
            <a:r>
              <a:rPr sz="1350" b="0" i="0">
                <a:solidFill>
                  <a:srgbClr val="262626"/>
                </a:solidFill>
                <a:latin typeface="Calibri"/>
              </a:rPr>
              <a:t>Each Member State publishes into its own dataset. What is shared is the meaning, not the ownership — there is no central database taking possession of national data.</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EU-controlled identifiers. </a:t>
            </a:r>
            <a:r>
              <a:rPr sz="1350" b="0" i="0">
                <a:solidFill>
                  <a:srgbClr val="262626"/>
                </a:solidFill>
                <a:latin typeface="Calibri"/>
              </a:rPr>
              <a:t>Whoever controls the identifiers controls who can join the data. Here that authority is European, the URIs are persistent and publicly governed — the most durable form of digital sovereignty on offer.</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No vendor lock-in. </a:t>
            </a:r>
            <a:r>
              <a:rPr sz="1350" b="0" i="0">
                <a:solidFill>
                  <a:srgbClr val="262626"/>
                </a:solidFill>
                <a:latin typeface="Calibri"/>
              </a:rPr>
              <a:t>RDF, SPARQL, SKOS, SHACL, GeoSPARQL — open standards, multiple implementations, EUPL 1.2, archived on Zenodo.</a:t>
            </a:r>
          </a:p>
          <a:p>
            <a:pPr algn="l">
              <a:lnSpc>
                <a:spcPct val="128000"/>
              </a:lnSpc>
              <a:spcAft>
                <a:spcPts val="900"/>
              </a:spcAft>
            </a:pPr>
            <a:r>
              <a:rPr sz="1350" b="1" i="0">
                <a:solidFill>
                  <a:srgbClr val="3F7BD1"/>
                </a:solidFill>
                <a:latin typeface="Calibri"/>
              </a:rPr>
              <a:t>▪  </a:t>
            </a:r>
            <a:r>
              <a:rPr sz="1350" b="1" i="0">
                <a:solidFill>
                  <a:srgbClr val="2E4372"/>
                </a:solidFill>
                <a:latin typeface="Calibri"/>
              </a:rPr>
              <a:t>Open access enables scrutiny. </a:t>
            </a:r>
            <a:r>
              <a:rPr sz="1350" b="0" i="0">
                <a:solidFill>
                  <a:srgbClr val="262626"/>
                </a:solidFill>
                <a:latin typeface="Calibri"/>
              </a:rPr>
              <a:t>Anyone can verify a claim about the register directly. The data-quality findings in §2 were found exactly that way.</a:t>
            </a:r>
          </a:p>
        </p:txBody>
      </p:sp>
      <p:sp>
        <p:nvSpPr>
          <p:cNvPr id="40" name="Rectangle 39"/>
          <p:cNvSpPr/>
          <p:nvPr/>
        </p:nvSpPr>
        <p:spPr>
          <a:xfrm>
            <a:off x="566928" y="5468112"/>
            <a:ext cx="5852160" cy="841248"/>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66928" y="5468112"/>
            <a:ext cx="45720" cy="841248"/>
          </a:xfrm>
          <a:prstGeom prst="rect">
            <a:avLst/>
          </a:prstGeom>
          <a:solidFill>
            <a:srgbClr val="2E4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8096" y="5596128"/>
            <a:ext cx="5468112" cy="658368"/>
          </a:xfrm>
          <a:prstGeom prst="rect">
            <a:avLst/>
          </a:prstGeom>
          <a:noFill/>
        </p:spPr>
        <p:txBody>
          <a:bodyPr wrap="square" lIns="0" tIns="0" rIns="0" bIns="0">
            <a:spAutoFit/>
          </a:bodyPr>
          <a:lstStyle/>
          <a:p>
            <a:pPr algn="l">
              <a:lnSpc>
                <a:spcPct val="122000"/>
              </a:lnSpc>
              <a:spcAft>
                <a:spcPts val="600"/>
              </a:spcAft>
            </a:pPr>
            <a:r>
              <a:rPr sz="1350" b="1" i="0">
                <a:solidFill>
                  <a:srgbClr val="2E4372"/>
                </a:solidFill>
                <a:latin typeface="Calibri"/>
              </a:rPr>
              <a:t>Borders are first-class objects: </a:t>
            </a:r>
            <a:r>
              <a:rPr sz="1350" b="0" i="0">
                <a:solidFill>
                  <a:srgbClr val="262626"/>
                </a:solidFill>
                <a:latin typeface="Calibri"/>
              </a:rPr>
              <a:t>288 reference border points, 427 border and 433 domestic-border operational points — and published queries expose 2,244 disconnected points in ERA’s own register.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84048"/>
            <a:ext cx="457200" cy="457200"/>
          </a:xfrm>
          <a:prstGeom prst="rect">
            <a:avLst/>
          </a:prstGeom>
          <a:solidFill>
            <a:srgbClr val="2F4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484632"/>
            <a:ext cx="457200" cy="365760"/>
          </a:xfrm>
          <a:prstGeom prst="rect">
            <a:avLst/>
          </a:prstGeom>
          <a:noFill/>
        </p:spPr>
        <p:txBody>
          <a:bodyPr wrap="square" lIns="0" tIns="0" rIns="0" bIns="0">
            <a:spAutoFit/>
          </a:bodyPr>
          <a:lstStyle/>
          <a:p>
            <a:pPr algn="ctr">
              <a:lnSpc>
                <a:spcPct val="125000"/>
              </a:lnSpc>
              <a:spcAft>
                <a:spcPts val="600"/>
              </a:spcAft>
            </a:pPr>
            <a:r>
              <a:rPr sz="1500" b="0" i="0">
                <a:solidFill>
                  <a:srgbClr val="FFFFFF"/>
                </a:solidFill>
                <a:latin typeface="Calibri"/>
              </a:rPr>
              <a:t>7</a:t>
            </a:r>
          </a:p>
        </p:txBody>
      </p:sp>
      <p:pic>
        <p:nvPicPr>
          <p:cNvPr id="4" name="Picture 3" descr="era-logo.png"/>
          <p:cNvPicPr>
            <a:picLocks noChangeAspect="1"/>
          </p:cNvPicPr>
          <p:nvPr/>
        </p:nvPicPr>
        <p:blipFill>
          <a:blip r:embed="rId2"/>
          <a:stretch>
            <a:fillRect/>
          </a:stretch>
        </p:blipFill>
        <p:spPr>
          <a:xfrm>
            <a:off x="1188720" y="329184"/>
            <a:ext cx="934720" cy="566928"/>
          </a:xfrm>
          <a:prstGeom prst="rect">
            <a:avLst/>
          </a:prstGeom>
        </p:spPr>
      </p:pic>
      <p:sp>
        <p:nvSpPr>
          <p:cNvPr id="5" name="TextBox 4"/>
          <p:cNvSpPr txBox="1"/>
          <p:nvPr/>
        </p:nvSpPr>
        <p:spPr>
          <a:xfrm>
            <a:off x="4937760" y="329184"/>
            <a:ext cx="6675120" cy="914400"/>
          </a:xfrm>
          <a:prstGeom prst="rect">
            <a:avLst/>
          </a:prstGeom>
          <a:noFill/>
        </p:spPr>
        <p:txBody>
          <a:bodyPr wrap="square" lIns="0" tIns="0" rIns="0" bIns="0">
            <a:spAutoFit/>
          </a:bodyPr>
          <a:lstStyle/>
          <a:p>
            <a:pPr algn="r">
              <a:lnSpc>
                <a:spcPct val="106000"/>
              </a:lnSpc>
              <a:spcAft>
                <a:spcPts val="600"/>
              </a:spcAft>
            </a:pPr>
            <a:r>
              <a:rPr sz="2700" b="0" i="0">
                <a:solidFill>
                  <a:srgbClr val="595959"/>
                </a:solidFill>
                <a:latin typeface="Calibri"/>
              </a:rPr>
              <a:t>What is the first step
to reuse the solution?</a:t>
            </a:r>
          </a:p>
        </p:txBody>
      </p:sp>
      <p:sp>
        <p:nvSpPr>
          <p:cNvPr id="6" name="TextBox 5"/>
          <p:cNvSpPr txBox="1"/>
          <p:nvPr/>
        </p:nvSpPr>
        <p:spPr>
          <a:xfrm>
            <a:off x="566928" y="1207008"/>
            <a:ext cx="11064240" cy="502920"/>
          </a:xfrm>
          <a:prstGeom prst="rect">
            <a:avLst/>
          </a:prstGeom>
          <a:noFill/>
        </p:spPr>
        <p:txBody>
          <a:bodyPr wrap="square" lIns="0" tIns="0" rIns="0" bIns="0">
            <a:spAutoFit/>
          </a:bodyPr>
          <a:lstStyle/>
          <a:p>
            <a:pPr algn="l">
              <a:lnSpc>
                <a:spcPct val="120000"/>
              </a:lnSpc>
              <a:spcAft>
                <a:spcPts val="600"/>
              </a:spcAft>
            </a:pPr>
            <a:r>
              <a:rPr sz="1550" b="1" i="0">
                <a:solidFill>
                  <a:srgbClr val="2E4372"/>
                </a:solidFill>
                <a:latin typeface="Calibri"/>
              </a:rPr>
              <a:t>Query it before committing to anything. No account, no licence negotiation, no data pipeline.</a:t>
            </a:r>
          </a:p>
        </p:txBody>
      </p:sp>
      <p:sp>
        <p:nvSpPr>
          <p:cNvPr id="7" name="TextBox 6"/>
          <p:cNvSpPr txBox="1"/>
          <p:nvPr/>
        </p:nvSpPr>
        <p:spPr>
          <a:xfrm>
            <a:off x="566928" y="6382512"/>
            <a:ext cx="8686800" cy="274320"/>
          </a:xfrm>
          <a:prstGeom prst="rect">
            <a:avLst/>
          </a:prstGeom>
          <a:noFill/>
        </p:spPr>
        <p:txBody>
          <a:bodyPr wrap="square" lIns="0" tIns="0" rIns="0" bIns="0">
            <a:spAutoFit/>
          </a:bodyPr>
          <a:lstStyle/>
          <a:p>
            <a:pPr algn="l">
              <a:lnSpc>
                <a:spcPct val="125000"/>
              </a:lnSpc>
              <a:spcAft>
                <a:spcPts val="600"/>
              </a:spcAft>
            </a:pPr>
            <a:r>
              <a:rPr sz="950" b="0" i="0">
                <a:solidFill>
                  <a:srgbClr val="8A93A6"/>
                </a:solidFill>
                <a:latin typeface="Calibri"/>
              </a:rPr>
              <a:t>ERA Ontology v3.3.4 · EUPL 1.2 · figures measured 22 August 2026</a:t>
            </a:r>
          </a:p>
        </p:txBody>
      </p:sp>
      <p:sp>
        <p:nvSpPr>
          <p:cNvPr id="8" name="TextBox 7"/>
          <p:cNvSpPr txBox="1"/>
          <p:nvPr/>
        </p:nvSpPr>
        <p:spPr>
          <a:xfrm>
            <a:off x="10972800" y="6382512"/>
            <a:ext cx="640080" cy="274320"/>
          </a:xfrm>
          <a:prstGeom prst="rect">
            <a:avLst/>
          </a:prstGeom>
          <a:noFill/>
        </p:spPr>
        <p:txBody>
          <a:bodyPr wrap="square" lIns="0" tIns="0" rIns="0" bIns="0">
            <a:spAutoFit/>
          </a:bodyPr>
          <a:lstStyle/>
          <a:p>
            <a:pPr algn="r">
              <a:lnSpc>
                <a:spcPct val="125000"/>
              </a:lnSpc>
              <a:spcAft>
                <a:spcPts val="600"/>
              </a:spcAft>
            </a:pPr>
            <a:r>
              <a:rPr sz="950" b="0" i="0">
                <a:solidFill>
                  <a:srgbClr val="8A93A6"/>
                </a:solidFill>
                <a:latin typeface="Calibri"/>
              </a:rPr>
              <a:t>8</a:t>
            </a:r>
          </a:p>
        </p:txBody>
      </p:sp>
      <p:sp>
        <p:nvSpPr>
          <p:cNvPr id="9" name="Rectangle 8"/>
          <p:cNvSpPr/>
          <p:nvPr/>
        </p:nvSpPr>
        <p:spPr>
          <a:xfrm>
            <a:off x="566928" y="1938528"/>
            <a:ext cx="5852160" cy="1481328"/>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1938528"/>
            <a:ext cx="45720" cy="1481328"/>
          </a:xfrm>
          <a:prstGeom prst="rect">
            <a:avLst/>
          </a:prstGeom>
          <a:solidFill>
            <a:srgbClr val="3F7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6384" y="2084831"/>
            <a:ext cx="5532120" cy="1234440"/>
          </a:xfrm>
          <a:prstGeom prst="rect">
            <a:avLst/>
          </a:prstGeom>
          <a:noFill/>
        </p:spPr>
        <p:txBody>
          <a:bodyPr wrap="square" lIns="0" tIns="0" rIns="0" bIns="0">
            <a:spAutoFit/>
          </a:bodyPr>
          <a:lstStyle/>
          <a:p>
            <a:pPr algn="l">
              <a:lnSpc>
                <a:spcPct val="124000"/>
              </a:lnSpc>
              <a:spcAft>
                <a:spcPts val="100"/>
              </a:spcAft>
            </a:pPr>
            <a:r>
              <a:rPr sz="1050" b="0" i="0" dirty="0">
                <a:solidFill>
                  <a:srgbClr val="1F3355"/>
                </a:solidFill>
                <a:latin typeface="Consolas"/>
              </a:rPr>
              <a:t>curl -</a:t>
            </a:r>
            <a:r>
              <a:rPr sz="1050" b="0" i="0" dirty="0" err="1">
                <a:solidFill>
                  <a:srgbClr val="1F3355"/>
                </a:solidFill>
                <a:latin typeface="Consolas"/>
              </a:rPr>
              <a:t>sS</a:t>
            </a:r>
            <a:r>
              <a:rPr sz="1050" b="0" i="0" dirty="0">
                <a:solidFill>
                  <a:srgbClr val="1F3355"/>
                </a:solidFill>
                <a:latin typeface="Consolas"/>
              </a:rPr>
              <a:t> -X POST \</a:t>
            </a:r>
          </a:p>
          <a:p>
            <a:pPr algn="l">
              <a:lnSpc>
                <a:spcPct val="124000"/>
              </a:lnSpc>
              <a:spcAft>
                <a:spcPts val="100"/>
              </a:spcAft>
            </a:pPr>
            <a:r>
              <a:rPr sz="1050" b="0" i="0" dirty="0">
                <a:solidFill>
                  <a:srgbClr val="1F3355"/>
                </a:solidFill>
                <a:latin typeface="Consolas"/>
              </a:rPr>
              <a:t>  "https://</a:t>
            </a:r>
            <a:r>
              <a:rPr sz="1050" b="0" i="0" dirty="0" err="1">
                <a:solidFill>
                  <a:srgbClr val="1F3355"/>
                </a:solidFill>
                <a:latin typeface="Consolas"/>
              </a:rPr>
              <a:t>graph.data.era.europa.eu</a:t>
            </a:r>
            <a:r>
              <a:rPr sz="1050" b="0" i="0" dirty="0">
                <a:solidFill>
                  <a:srgbClr val="1F3355"/>
                </a:solidFill>
                <a:latin typeface="Consolas"/>
              </a:rPr>
              <a:t>/repositories/</a:t>
            </a:r>
            <a:r>
              <a:rPr sz="1050" b="0" i="0" dirty="0" err="1">
                <a:solidFill>
                  <a:srgbClr val="1F3355"/>
                </a:solidFill>
                <a:latin typeface="Consolas"/>
              </a:rPr>
              <a:t>rinf</a:t>
            </a:r>
            <a:r>
              <a:rPr sz="1050" b="0" i="0" dirty="0">
                <a:solidFill>
                  <a:srgbClr val="1F3355"/>
                </a:solidFill>
                <a:latin typeface="Consolas"/>
              </a:rPr>
              <a:t>-plus" \</a:t>
            </a:r>
          </a:p>
          <a:p>
            <a:pPr algn="l">
              <a:lnSpc>
                <a:spcPct val="124000"/>
              </a:lnSpc>
              <a:spcAft>
                <a:spcPts val="100"/>
              </a:spcAft>
            </a:pPr>
            <a:r>
              <a:rPr sz="1050" b="0" i="0" dirty="0">
                <a:solidFill>
                  <a:srgbClr val="1F3355"/>
                </a:solidFill>
                <a:latin typeface="Consolas"/>
              </a:rPr>
              <a:t>  -H "Content-Type: application/</a:t>
            </a:r>
            <a:r>
              <a:rPr sz="1050" b="0" i="0" dirty="0" err="1">
                <a:solidFill>
                  <a:srgbClr val="1F3355"/>
                </a:solidFill>
                <a:latin typeface="Consolas"/>
              </a:rPr>
              <a:t>sparql</a:t>
            </a:r>
            <a:r>
              <a:rPr sz="1050" b="0" i="0" dirty="0">
                <a:solidFill>
                  <a:srgbClr val="1F3355"/>
                </a:solidFill>
                <a:latin typeface="Consolas"/>
              </a:rPr>
              <a:t>-query" \</a:t>
            </a:r>
          </a:p>
          <a:p>
            <a:pPr algn="l">
              <a:lnSpc>
                <a:spcPct val="124000"/>
              </a:lnSpc>
              <a:spcAft>
                <a:spcPts val="100"/>
              </a:spcAft>
            </a:pPr>
            <a:r>
              <a:rPr sz="1050" b="0" i="0" dirty="0">
                <a:solidFill>
                  <a:srgbClr val="1F3355"/>
                </a:solidFill>
                <a:latin typeface="Consolas"/>
              </a:rPr>
              <a:t>  --data-binary 'SELECT ?value (COUNT(?track) AS ?n) WHERE {</a:t>
            </a:r>
          </a:p>
          <a:p>
            <a:pPr algn="l">
              <a:lnSpc>
                <a:spcPct val="124000"/>
              </a:lnSpc>
              <a:spcAft>
                <a:spcPts val="100"/>
              </a:spcAft>
            </a:pPr>
            <a:r>
              <a:rPr sz="1050" b="0" i="0" dirty="0">
                <a:solidFill>
                  <a:srgbClr val="1F3355"/>
                </a:solidFill>
                <a:latin typeface="Consolas"/>
              </a:rPr>
              <a:t>    ?p </a:t>
            </a:r>
            <a:r>
              <a:rPr sz="1050" b="0" i="0" dirty="0" err="1">
                <a:solidFill>
                  <a:srgbClr val="1F3355"/>
                </a:solidFill>
                <a:latin typeface="Consolas"/>
              </a:rPr>
              <a:t>era:rinfIndex</a:t>
            </a:r>
            <a:r>
              <a:rPr sz="1050" b="0" i="0" dirty="0">
                <a:solidFill>
                  <a:srgbClr val="1F3355"/>
                </a:solidFill>
                <a:latin typeface="Consolas"/>
              </a:rPr>
              <a:t> "1.1.1.1.4.1" . ?track ?p ?value }</a:t>
            </a:r>
          </a:p>
          <a:p>
            <a:pPr algn="l">
              <a:lnSpc>
                <a:spcPct val="124000"/>
              </a:lnSpc>
              <a:spcAft>
                <a:spcPts val="100"/>
              </a:spcAft>
            </a:pPr>
            <a:r>
              <a:rPr sz="1050" b="0" i="0" dirty="0">
                <a:solidFill>
                  <a:srgbClr val="1F3355"/>
                </a:solidFill>
                <a:latin typeface="Consolas"/>
              </a:rPr>
              <a:t>    GROUP BY ?value ORDER BY DESC(?n)'</a:t>
            </a:r>
          </a:p>
        </p:txBody>
      </p:sp>
      <p:sp>
        <p:nvSpPr>
          <p:cNvPr id="12" name="TextBox 11"/>
          <p:cNvSpPr txBox="1"/>
          <p:nvPr/>
        </p:nvSpPr>
        <p:spPr>
          <a:xfrm>
            <a:off x="566928" y="3547872"/>
            <a:ext cx="5852160" cy="274320"/>
          </a:xfrm>
          <a:prstGeom prst="rect">
            <a:avLst/>
          </a:prstGeom>
          <a:noFill/>
        </p:spPr>
        <p:txBody>
          <a:bodyPr wrap="square" lIns="0" tIns="0" rIns="0" bIns="0">
            <a:spAutoFit/>
          </a:bodyPr>
          <a:lstStyle/>
          <a:p>
            <a:pPr algn="l">
              <a:lnSpc>
                <a:spcPct val="125000"/>
              </a:lnSpc>
              <a:spcAft>
                <a:spcPts val="600"/>
              </a:spcAft>
            </a:pPr>
            <a:r>
              <a:rPr sz="1150" b="0" i="0">
                <a:solidFill>
                  <a:srgbClr val="5B6577"/>
                </a:solidFill>
                <a:latin typeface="Calibri"/>
              </a:rPr>
              <a:t>Runs as-is and returns the gauge table on the previous slide.</a:t>
            </a:r>
          </a:p>
        </p:txBody>
      </p:sp>
      <p:sp>
        <p:nvSpPr>
          <p:cNvPr id="13" name="TextBox 12"/>
          <p:cNvSpPr txBox="1"/>
          <p:nvPr/>
        </p:nvSpPr>
        <p:spPr>
          <a:xfrm>
            <a:off x="6629400" y="1938528"/>
            <a:ext cx="5001768" cy="274320"/>
          </a:xfrm>
          <a:prstGeom prst="rect">
            <a:avLst/>
          </a:prstGeom>
          <a:noFill/>
        </p:spPr>
        <p:txBody>
          <a:bodyPr wrap="square" lIns="0" tIns="0" rIns="0" bIns="0">
            <a:spAutoFit/>
          </a:bodyPr>
          <a:lstStyle/>
          <a:p>
            <a:pPr algn="l">
              <a:lnSpc>
                <a:spcPct val="125000"/>
              </a:lnSpc>
              <a:spcAft>
                <a:spcPts val="600"/>
              </a:spcAft>
            </a:pPr>
            <a:r>
              <a:rPr sz="1300" b="1" i="0">
                <a:solidFill>
                  <a:srgbClr val="2E4372"/>
                </a:solidFill>
                <a:latin typeface="Calibri"/>
              </a:rPr>
              <a:t>Then, in order</a:t>
            </a:r>
          </a:p>
        </p:txBody>
      </p:sp>
      <p:sp>
        <p:nvSpPr>
          <p:cNvPr id="14" name="TextBox 13"/>
          <p:cNvSpPr txBox="1"/>
          <p:nvPr/>
        </p:nvSpPr>
        <p:spPr>
          <a:xfrm>
            <a:off x="6629400" y="2331720"/>
            <a:ext cx="5001768" cy="3657600"/>
          </a:xfrm>
          <a:prstGeom prst="rect">
            <a:avLst/>
          </a:prstGeom>
          <a:noFill/>
        </p:spPr>
        <p:txBody>
          <a:bodyPr wrap="square" lIns="0" tIns="0" rIns="0" bIns="0">
            <a:spAutoFit/>
          </a:bodyPr>
          <a:lstStyle/>
          <a:p>
            <a:pPr algn="l">
              <a:lnSpc>
                <a:spcPct val="124000"/>
              </a:lnSpc>
              <a:spcAft>
                <a:spcPts val="700"/>
              </a:spcAft>
            </a:pPr>
            <a:r>
              <a:rPr sz="1250" b="1" i="0">
                <a:solidFill>
                  <a:srgbClr val="3F7BD1"/>
                </a:solidFill>
                <a:latin typeface="Calibri"/>
              </a:rPr>
              <a:t>1  </a:t>
            </a:r>
            <a:r>
              <a:rPr sz="1250" b="1" i="0">
                <a:solidFill>
                  <a:srgbClr val="2E4372"/>
                </a:solidFill>
                <a:latin typeface="Calibri"/>
              </a:rPr>
              <a:t>Run the published queries first — </a:t>
            </a:r>
            <a:r>
              <a:rPr sz="1250" b="0" i="0">
                <a:solidFill>
                  <a:srgbClr val="262626"/>
                </a:solidFill>
                <a:latin typeface="Calibri"/>
              </a:rPr>
              <a:t>38 in the catalogue, 47 in three notebooks.</a:t>
            </a:r>
          </a:p>
          <a:p>
            <a:pPr algn="l">
              <a:lnSpc>
                <a:spcPct val="124000"/>
              </a:lnSpc>
              <a:spcAft>
                <a:spcPts val="700"/>
              </a:spcAft>
            </a:pPr>
            <a:r>
              <a:rPr sz="1250" b="1" i="0">
                <a:solidFill>
                  <a:srgbClr val="3F7BD1"/>
                </a:solidFill>
                <a:latin typeface="Calibri"/>
              </a:rPr>
              <a:t>2  </a:t>
            </a:r>
            <a:r>
              <a:rPr sz="1250" b="1" i="0">
                <a:solidFill>
                  <a:srgbClr val="2E4372"/>
                </a:solidFill>
                <a:latin typeface="Calibri"/>
              </a:rPr>
              <a:t>Read the vocabulary </a:t>
            </a:r>
            <a:r>
              <a:rPr sz="1250" b="0" i="0">
                <a:solidFill>
                  <a:srgbClr val="262626"/>
                </a:solidFill>
                <a:latin typeface="Calibri"/>
              </a:rPr>
              <a:t>and the application guide that maps each parameter.</a:t>
            </a:r>
          </a:p>
          <a:p>
            <a:pPr algn="l">
              <a:lnSpc>
                <a:spcPct val="124000"/>
              </a:lnSpc>
              <a:spcAft>
                <a:spcPts val="700"/>
              </a:spcAft>
            </a:pPr>
            <a:r>
              <a:rPr sz="1250" b="1" i="0">
                <a:solidFill>
                  <a:srgbClr val="3F7BD1"/>
                </a:solidFill>
                <a:latin typeface="Calibri"/>
              </a:rPr>
              <a:t>3  </a:t>
            </a:r>
            <a:r>
              <a:rPr sz="1250" b="1" i="0">
                <a:solidFill>
                  <a:srgbClr val="2E4372"/>
                </a:solidFill>
                <a:latin typeface="Calibri"/>
              </a:rPr>
              <a:t>Locate your own parameters </a:t>
            </a:r>
            <a:r>
              <a:rPr sz="1250" b="0" i="0">
                <a:solidFill>
                  <a:srgbClr val="262626"/>
                </a:solidFill>
                <a:latin typeface="Calibri"/>
              </a:rPr>
              <a:t>by rinfIndex; what does not map is national, or a gap.</a:t>
            </a:r>
          </a:p>
          <a:p>
            <a:pPr algn="l">
              <a:lnSpc>
                <a:spcPct val="124000"/>
              </a:lnSpc>
              <a:spcAft>
                <a:spcPts val="700"/>
              </a:spcAft>
            </a:pPr>
            <a:r>
              <a:rPr sz="1250" b="1" i="0">
                <a:solidFill>
                  <a:srgbClr val="3F7BD1"/>
                </a:solidFill>
                <a:latin typeface="Calibri"/>
              </a:rPr>
              <a:t>4  </a:t>
            </a:r>
            <a:r>
              <a:rPr sz="1250" b="1" i="0">
                <a:solidFill>
                  <a:srgbClr val="2E4372"/>
                </a:solidFill>
                <a:latin typeface="Calibri"/>
              </a:rPr>
              <a:t>Adopt the identifiers before modelling. </a:t>
            </a:r>
            <a:r>
              <a:rPr sz="1250" b="0" i="0">
                <a:solidFill>
                  <a:srgbClr val="262626"/>
                </a:solidFill>
                <a:latin typeface="Calibri"/>
              </a:rPr>
              <a:t>Cheapest interoperability there is.</a:t>
            </a:r>
          </a:p>
          <a:p>
            <a:pPr algn="l">
              <a:lnSpc>
                <a:spcPct val="124000"/>
              </a:lnSpc>
              <a:spcAft>
                <a:spcPts val="700"/>
              </a:spcAft>
            </a:pPr>
            <a:r>
              <a:rPr sz="1250" b="1" i="0">
                <a:solidFill>
                  <a:srgbClr val="3F7BD1"/>
                </a:solidFill>
                <a:latin typeface="Calibri"/>
              </a:rPr>
              <a:t>5  </a:t>
            </a:r>
            <a:r>
              <a:rPr sz="1250" b="1" i="0">
                <a:solidFill>
                  <a:srgbClr val="2E4372"/>
                </a:solidFill>
                <a:latin typeface="Calibri"/>
              </a:rPr>
              <a:t>Adopt the code lists before the classes </a:t>
            </a:r>
            <a:r>
              <a:rPr sz="1250" b="0" i="0">
                <a:solidFill>
                  <a:srgbClr val="262626"/>
                </a:solidFill>
                <a:latin typeface="Calibri"/>
              </a:rPr>
              <a:t>— and pin the version you validated.</a:t>
            </a:r>
          </a:p>
          <a:p>
            <a:pPr algn="l">
              <a:lnSpc>
                <a:spcPct val="124000"/>
              </a:lnSpc>
              <a:spcAft>
                <a:spcPts val="700"/>
              </a:spcAft>
            </a:pPr>
            <a:r>
              <a:rPr sz="1250" b="1" i="0">
                <a:solidFill>
                  <a:srgbClr val="3F7BD1"/>
                </a:solidFill>
                <a:latin typeface="Calibri"/>
              </a:rPr>
              <a:t>6  </a:t>
            </a:r>
            <a:r>
              <a:rPr sz="1250" b="1" i="0">
                <a:solidFill>
                  <a:srgbClr val="2E4372"/>
                </a:solidFill>
                <a:latin typeface="Calibri"/>
              </a:rPr>
              <a:t>Validate early with the shipped SHACL shapes, </a:t>
            </a:r>
            <a:r>
              <a:rPr sz="1250" b="0" i="0">
                <a:solidFill>
                  <a:srgbClr val="262626"/>
                </a:solidFill>
                <a:latin typeface="Calibri"/>
              </a:rPr>
              <a:t>in your own pipeline.</a:t>
            </a:r>
          </a:p>
          <a:p>
            <a:pPr algn="l">
              <a:lnSpc>
                <a:spcPct val="124000"/>
              </a:lnSpc>
              <a:spcAft>
                <a:spcPts val="700"/>
              </a:spcAft>
            </a:pPr>
            <a:r>
              <a:rPr sz="1250" b="1" i="0">
                <a:solidFill>
                  <a:srgbClr val="3F7BD1"/>
                </a:solidFill>
                <a:latin typeface="Calibri"/>
              </a:rPr>
              <a:t>7  </a:t>
            </a:r>
            <a:r>
              <a:rPr sz="1250" b="1" i="0">
                <a:solidFill>
                  <a:srgbClr val="2E4372"/>
                </a:solidFill>
                <a:latin typeface="Calibri"/>
              </a:rPr>
              <a:t>Publish into your own dataset, </a:t>
            </a:r>
            <a:r>
              <a:rPr sz="1250" b="0" i="0">
                <a:solidFill>
                  <a:srgbClr val="262626"/>
                </a:solidFill>
                <a:latin typeface="Calibri"/>
              </a:rPr>
              <a:t>keeping custody.</a:t>
            </a:r>
          </a:p>
          <a:p>
            <a:pPr algn="l">
              <a:lnSpc>
                <a:spcPct val="124000"/>
              </a:lnSpc>
              <a:spcAft>
                <a:spcPts val="700"/>
              </a:spcAft>
            </a:pPr>
            <a:r>
              <a:rPr sz="1250" b="1" i="0">
                <a:solidFill>
                  <a:srgbClr val="3F7BD1"/>
                </a:solidFill>
                <a:latin typeface="Calibri"/>
              </a:rPr>
              <a:t>8  </a:t>
            </a:r>
            <a:r>
              <a:rPr sz="1250" b="1" i="0">
                <a:solidFill>
                  <a:srgbClr val="2E4372"/>
                </a:solidFill>
                <a:latin typeface="Calibri"/>
              </a:rPr>
              <a:t>Engage the maintainers </a:t>
            </a:r>
            <a:r>
              <a:rPr sz="1250" b="0" i="0">
                <a:solidFill>
                  <a:srgbClr val="262626"/>
                </a:solidFill>
                <a:latin typeface="Calibri"/>
              </a:rPr>
              <a:t>through the public issue tracker.</a:t>
            </a:r>
          </a:p>
        </p:txBody>
      </p:sp>
      <p:sp>
        <p:nvSpPr>
          <p:cNvPr id="15" name="Rectangle 14"/>
          <p:cNvSpPr/>
          <p:nvPr/>
        </p:nvSpPr>
        <p:spPr>
          <a:xfrm>
            <a:off x="566928" y="4041648"/>
            <a:ext cx="5852160" cy="1417320"/>
          </a:xfrm>
          <a:prstGeom prst="rect">
            <a:avLst/>
          </a:prstGeom>
          <a:solidFill>
            <a:srgbClr val="E8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4041648"/>
            <a:ext cx="45720" cy="1417320"/>
          </a:xfrm>
          <a:prstGeom prst="rect">
            <a:avLst/>
          </a:prstGeom>
          <a:solidFill>
            <a:srgbClr val="255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4169664"/>
            <a:ext cx="5468112" cy="1234440"/>
          </a:xfrm>
          <a:prstGeom prst="rect">
            <a:avLst/>
          </a:prstGeom>
          <a:noFill/>
        </p:spPr>
        <p:txBody>
          <a:bodyPr wrap="square" lIns="0" tIns="0" rIns="0" bIns="0">
            <a:spAutoFit/>
          </a:bodyPr>
          <a:lstStyle/>
          <a:p>
            <a:pPr algn="l">
              <a:lnSpc>
                <a:spcPct val="122000"/>
              </a:lnSpc>
              <a:spcAft>
                <a:spcPts val="600"/>
              </a:spcAft>
            </a:pPr>
            <a:r>
              <a:rPr sz="1350" b="1" i="0">
                <a:solidFill>
                  <a:srgbClr val="255C45"/>
                </a:solidFill>
                <a:latin typeface="Calibri"/>
              </a:rPr>
              <a:t>If your domain is not rail, </a:t>
            </a:r>
            <a:r>
              <a:rPr sz="1350" b="0" i="0">
                <a:solidFill>
                  <a:srgbClr val="262626"/>
                </a:solidFill>
                <a:latin typeface="Calibri"/>
              </a:rPr>
              <a:t>the reusable asset is the design, not the classes: a legal annex expressed as indexed properties, governed code lists shipped as SKOS, validation shapes shipped with the vocabulary, and open query access. That pattern is what we would encourage assessors to consider transferable — to energy metering, building permits, or any register a legal act mandates across 27 jurisdictions.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E4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era-logo.png"/>
          <p:cNvPicPr>
            <a:picLocks noChangeAspect="1"/>
          </p:cNvPicPr>
          <p:nvPr/>
        </p:nvPicPr>
        <p:blipFill>
          <a:blip r:embed="rId2"/>
          <a:stretch>
            <a:fillRect/>
          </a:stretch>
        </p:blipFill>
        <p:spPr>
          <a:xfrm>
            <a:off x="868680" y="658368"/>
            <a:ext cx="995025" cy="603504"/>
          </a:xfrm>
          <a:prstGeom prst="rect">
            <a:avLst/>
          </a:prstGeom>
        </p:spPr>
      </p:pic>
      <p:sp>
        <p:nvSpPr>
          <p:cNvPr id="4" name="TextBox 3"/>
          <p:cNvSpPr txBox="1"/>
          <p:nvPr/>
        </p:nvSpPr>
        <p:spPr>
          <a:xfrm>
            <a:off x="868680" y="1691640"/>
            <a:ext cx="10424160" cy="640080"/>
          </a:xfrm>
          <a:prstGeom prst="rect">
            <a:avLst/>
          </a:prstGeom>
          <a:noFill/>
        </p:spPr>
        <p:txBody>
          <a:bodyPr wrap="square" lIns="0" tIns="0" rIns="0" bIns="0">
            <a:spAutoFit/>
          </a:bodyPr>
          <a:lstStyle/>
          <a:p>
            <a:pPr algn="l">
              <a:lnSpc>
                <a:spcPct val="125000"/>
              </a:lnSpc>
              <a:spcAft>
                <a:spcPts val="600"/>
              </a:spcAft>
            </a:pPr>
            <a:r>
              <a:rPr sz="3000" b="1" i="0">
                <a:solidFill>
                  <a:srgbClr val="FFFFFF"/>
                </a:solidFill>
                <a:latin typeface="Calibri"/>
              </a:rPr>
              <a:t>Sources — every figure above is traceable</a:t>
            </a:r>
          </a:p>
        </p:txBody>
      </p:sp>
      <p:sp>
        <p:nvSpPr>
          <p:cNvPr id="5" name="Rectangle 4"/>
          <p:cNvSpPr/>
          <p:nvPr/>
        </p:nvSpPr>
        <p:spPr>
          <a:xfrm>
            <a:off x="868680" y="2487168"/>
            <a:ext cx="3840480" cy="12700"/>
          </a:xfrm>
          <a:prstGeom prst="rect">
            <a:avLst/>
          </a:prstGeom>
          <a:solidFill>
            <a:srgbClr val="8EA2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761488"/>
            <a:ext cx="5120640" cy="2377440"/>
          </a:xfrm>
          <a:prstGeom prst="rect">
            <a:avLst/>
          </a:prstGeom>
          <a:noFill/>
        </p:spPr>
        <p:txBody>
          <a:bodyPr wrap="square" lIns="0" tIns="0" rIns="0" bIns="0">
            <a:spAutoFit/>
          </a:bodyPr>
          <a:lstStyle/>
          <a:p>
            <a:pPr algn="l">
              <a:lnSpc>
                <a:spcPct val="134000"/>
              </a:lnSpc>
              <a:spcAft>
                <a:spcPts val="500"/>
              </a:spcAft>
            </a:pPr>
            <a:r>
              <a:rPr sz="1200" b="0" i="0">
                <a:solidFill>
                  <a:srgbClr val="D3DDEE"/>
                </a:solidFill>
                <a:latin typeface="Calibri"/>
              </a:rPr>
              <a:t>ERA Ontology v3.3.4 — rinf.data.era.europa.eu/era-vocabulary</a:t>
            </a:r>
          </a:p>
          <a:p>
            <a:pPr algn="l">
              <a:lnSpc>
                <a:spcPct val="134000"/>
              </a:lnSpc>
              <a:spcAft>
                <a:spcPts val="500"/>
              </a:spcAft>
            </a:pPr>
            <a:r>
              <a:rPr sz="1200" b="0" i="0">
                <a:solidFill>
                  <a:srgbClr val="D3DDEE"/>
                </a:solidFill>
                <a:latin typeface="Calibri"/>
              </a:rPr>
              <a:t>Application guides — RINF, ERATV, EVR, ERADIS (same host)</a:t>
            </a:r>
          </a:p>
          <a:p>
            <a:pPr algn="l">
              <a:lnSpc>
                <a:spcPct val="134000"/>
              </a:lnSpc>
              <a:spcAft>
                <a:spcPts val="500"/>
              </a:spcAft>
            </a:pPr>
            <a:r>
              <a:rPr sz="1200" b="0" i="0">
                <a:solidFill>
                  <a:srgbClr val="D3DDEE"/>
                </a:solidFill>
                <a:latin typeface="Calibri"/>
              </a:rPr>
              <a:t>Published artefacts — era-shapes, era-skos, era-telem-skos</a:t>
            </a:r>
          </a:p>
          <a:p>
            <a:pPr algn="l">
              <a:lnSpc>
                <a:spcPct val="134000"/>
              </a:lnSpc>
              <a:spcAft>
                <a:spcPts val="500"/>
              </a:spcAft>
            </a:pPr>
            <a:r>
              <a:rPr sz="1200" b="0" i="0">
                <a:solidFill>
                  <a:srgbClr val="D3DDEE"/>
                </a:solidFill>
                <a:latin typeface="Calibri"/>
              </a:rPr>
              <a:t>Live knowledge graph — graph.data.era.europa.eu</a:t>
            </a:r>
          </a:p>
          <a:p>
            <a:pPr algn="l">
              <a:lnSpc>
                <a:spcPct val="134000"/>
              </a:lnSpc>
              <a:spcAft>
                <a:spcPts val="500"/>
              </a:spcAft>
            </a:pPr>
            <a:r>
              <a:rPr sz="1200" b="0" i="0">
                <a:solidFill>
                  <a:srgbClr val="D3DDEE"/>
                </a:solidFill>
                <a:latin typeface="Calibri"/>
              </a:rPr>
              <a:t>Data Stories — 38 queries + 3 notebooks</a:t>
            </a:r>
          </a:p>
          <a:p>
            <a:pPr algn="l">
              <a:lnSpc>
                <a:spcPct val="134000"/>
              </a:lnSpc>
              <a:spcAft>
                <a:spcPts val="500"/>
              </a:spcAft>
            </a:pPr>
            <a:r>
              <a:rPr sz="1200" b="0" i="0">
                <a:solidFill>
                  <a:srgbClr val="D3DDEE"/>
                </a:solidFill>
                <a:latin typeface="Calibri"/>
              </a:rPr>
              <a:t>DOI 10.5281/zenodo.15089005 · EUPL 1.2</a:t>
            </a:r>
          </a:p>
        </p:txBody>
      </p:sp>
      <p:sp>
        <p:nvSpPr>
          <p:cNvPr id="7" name="TextBox 6"/>
          <p:cNvSpPr txBox="1"/>
          <p:nvPr/>
        </p:nvSpPr>
        <p:spPr>
          <a:xfrm>
            <a:off x="6263640" y="2761488"/>
            <a:ext cx="5120640" cy="2377440"/>
          </a:xfrm>
          <a:prstGeom prst="rect">
            <a:avLst/>
          </a:prstGeom>
          <a:noFill/>
        </p:spPr>
        <p:txBody>
          <a:bodyPr wrap="square" lIns="0" tIns="0" rIns="0" bIns="0">
            <a:spAutoFit/>
          </a:bodyPr>
          <a:lstStyle/>
          <a:p>
            <a:pPr algn="l">
              <a:lnSpc>
                <a:spcPct val="134000"/>
              </a:lnSpc>
              <a:spcAft>
                <a:spcPts val="500"/>
              </a:spcAft>
            </a:pPr>
            <a:r>
              <a:rPr sz="1200" b="0" i="0">
                <a:solidFill>
                  <a:srgbClr val="D3DDEE"/>
                </a:solidFill>
                <a:latin typeface="Calibri"/>
              </a:rPr>
              <a:t>Reg. (EU) 2019/777, amended by (EU) 2023/1694 — RINF</a:t>
            </a:r>
          </a:p>
          <a:p>
            <a:pPr algn="l">
              <a:lnSpc>
                <a:spcPct val="134000"/>
              </a:lnSpc>
              <a:spcAft>
                <a:spcPts val="500"/>
              </a:spcAft>
            </a:pPr>
            <a:r>
              <a:rPr sz="1200" b="0" i="0">
                <a:solidFill>
                  <a:srgbClr val="D3DDEE"/>
                </a:solidFill>
                <a:latin typeface="Calibri"/>
              </a:rPr>
              <a:t>Decision 2011/665/EU; Reg. (EU) 2019/776 — ERATV</a:t>
            </a:r>
          </a:p>
          <a:p>
            <a:pPr algn="l">
              <a:lnSpc>
                <a:spcPct val="134000"/>
              </a:lnSpc>
              <a:spcAft>
                <a:spcPts val="500"/>
              </a:spcAft>
            </a:pPr>
            <a:r>
              <a:rPr sz="1200" b="0" i="0">
                <a:solidFill>
                  <a:srgbClr val="D3DDEE"/>
                </a:solidFill>
                <a:latin typeface="Calibri"/>
              </a:rPr>
              <a:t>Reg. (EU) 2023/1695; Decision (EU) 2018/1614 — EVR</a:t>
            </a:r>
          </a:p>
          <a:p>
            <a:pPr algn="l">
              <a:lnSpc>
                <a:spcPct val="134000"/>
              </a:lnSpc>
              <a:spcAft>
                <a:spcPts val="500"/>
              </a:spcAft>
            </a:pPr>
            <a:r>
              <a:rPr sz="1200" b="0" i="0">
                <a:solidFill>
                  <a:srgbClr val="D3DDEE"/>
                </a:solidFill>
                <a:latin typeface="Calibri"/>
              </a:rPr>
              <a:t>Dir. (EU) 2016/797 and 2016/798; Reg. (EU) 2016/796 — ERADIS</a:t>
            </a:r>
          </a:p>
          <a:p>
            <a:pPr algn="l">
              <a:lnSpc>
                <a:spcPct val="134000"/>
              </a:lnSpc>
              <a:spcAft>
                <a:spcPts val="500"/>
              </a:spcAft>
            </a:pPr>
            <a:r>
              <a:rPr sz="1200" b="0" i="0">
                <a:solidFill>
                  <a:srgbClr val="D3DDEE"/>
                </a:solidFill>
                <a:latin typeface="Calibri"/>
              </a:rPr>
              <a:t>Interoperable Europe Portal — ERA Vocabulary solution</a:t>
            </a:r>
          </a:p>
          <a:p>
            <a:pPr algn="l">
              <a:lnSpc>
                <a:spcPct val="134000"/>
              </a:lnSpc>
              <a:spcAft>
                <a:spcPts val="500"/>
              </a:spcAft>
            </a:pPr>
            <a:r>
              <a:rPr sz="1200" b="0" i="0">
                <a:solidFill>
                  <a:srgbClr val="D3DDEE"/>
                </a:solidFill>
                <a:latin typeface="Calibri"/>
              </a:rPr>
              <a:t>Logo: ERA-rgb-300dpi.jpg, Wikimedia Commons, public domain, by ERA</a:t>
            </a:r>
          </a:p>
        </p:txBody>
      </p:sp>
      <p:sp>
        <p:nvSpPr>
          <p:cNvPr id="8" name="TextBox 7"/>
          <p:cNvSpPr txBox="1"/>
          <p:nvPr/>
        </p:nvSpPr>
        <p:spPr>
          <a:xfrm>
            <a:off x="868680" y="5577840"/>
            <a:ext cx="10424160" cy="457200"/>
          </a:xfrm>
          <a:prstGeom prst="rect">
            <a:avLst/>
          </a:prstGeom>
          <a:noFill/>
        </p:spPr>
        <p:txBody>
          <a:bodyPr wrap="square" lIns="0" tIns="0" rIns="0" bIns="0">
            <a:spAutoFit/>
          </a:bodyPr>
          <a:lstStyle/>
          <a:p>
            <a:pPr algn="l">
              <a:lnSpc>
                <a:spcPct val="125000"/>
              </a:lnSpc>
              <a:spcAft>
                <a:spcPts val="600"/>
              </a:spcAft>
            </a:pPr>
            <a:r>
              <a:rPr sz="1300" b="0" i="0">
                <a:solidFill>
                  <a:srgbClr val="FFFFFF"/>
                </a:solidFill>
                <a:latin typeface="Calibri"/>
              </a:rPr>
              <a:t>Full answers: gatemezing.github.io/onto-dissemination/interopable-eu-portal-answers.html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1958</Words>
  <Application>Microsoft Macintosh PowerPoint</Application>
  <PresentationFormat>Grand écran</PresentationFormat>
  <Paragraphs>174</Paragraphs>
  <Slides>9</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Calibri</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Ghislain Atemezing</cp:lastModifiedBy>
  <cp:revision>2</cp:revision>
  <dcterms:created xsi:type="dcterms:W3CDTF">2013-01-27T09:14:16Z</dcterms:created>
  <dcterms:modified xsi:type="dcterms:W3CDTF">2026-09-03T19:48:24Z</dcterms:modified>
  <cp:category/>
</cp:coreProperties>
</file>