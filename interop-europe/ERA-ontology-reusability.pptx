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E4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874519"/>
            <a:ext cx="8778240" cy="960120"/>
          </a:xfrm>
          <a:prstGeom prst="rect">
            <a:avLst/>
          </a:prstGeom>
          <a:noFill/>
        </p:spPr>
        <p:txBody>
          <a:bodyPr wrap="square" lIns="0" rIns="0" tIns="0" bIns="0">
            <a:spAutoFit/>
          </a:bodyPr>
          <a:lstStyle/>
          <a:p>
            <a:pPr algn="l">
              <a:lnSpc>
                <a:spcPct val="102000"/>
              </a:lnSpc>
              <a:spcAft>
                <a:spcPts val="200"/>
              </a:spcAft>
            </a:pPr>
            <a:r>
              <a:rPr sz="4600" b="0" i="0">
                <a:solidFill>
                  <a:srgbClr val="FFFFFF"/>
                </a:solidFill>
                <a:latin typeface="Calibri"/>
              </a:rPr>
              <a:t>Reusing the </a:t>
            </a:r>
            <a:r>
              <a:rPr sz="4600" b="1" i="0">
                <a:solidFill>
                  <a:srgbClr val="FFFFFF"/>
                </a:solidFill>
                <a:latin typeface="Calibri"/>
              </a:rPr>
              <a:t>ERA Ontology</a:t>
            </a:r>
          </a:p>
        </p:txBody>
      </p:sp>
      <p:sp>
        <p:nvSpPr>
          <p:cNvPr id="4" name="TextBox 3"/>
          <p:cNvSpPr txBox="1"/>
          <p:nvPr/>
        </p:nvSpPr>
        <p:spPr>
          <a:xfrm>
            <a:off x="868680" y="2880360"/>
            <a:ext cx="8778240" cy="548640"/>
          </a:xfrm>
          <a:prstGeom prst="rect">
            <a:avLst/>
          </a:prstGeom>
          <a:noFill/>
        </p:spPr>
        <p:txBody>
          <a:bodyPr wrap="square" lIns="0" rIns="0" tIns="0" bIns="0">
            <a:spAutoFit/>
          </a:bodyPr>
          <a:lstStyle/>
          <a:p>
            <a:pPr algn="l">
              <a:lnSpc>
                <a:spcPct val="125000"/>
              </a:lnSpc>
              <a:spcAft>
                <a:spcPts val="600"/>
              </a:spcAft>
            </a:pPr>
            <a:r>
              <a:rPr sz="2100" b="0" i="0">
                <a:solidFill>
                  <a:srgbClr val="FFFFFF"/>
                </a:solidFill>
                <a:latin typeface="Calibri"/>
              </a:rPr>
              <a:t>Seven answers for the Interoperable Europe assessment</a:t>
            </a:r>
          </a:p>
        </p:txBody>
      </p:sp>
      <p:sp>
        <p:nvSpPr>
          <p:cNvPr id="5" name="Rectangle 4"/>
          <p:cNvSpPr/>
          <p:nvPr/>
        </p:nvSpPr>
        <p:spPr>
          <a:xfrm>
            <a:off x="868680" y="3657600"/>
            <a:ext cx="3840480" cy="12700"/>
          </a:xfrm>
          <a:prstGeom prst="rect">
            <a:avLst/>
          </a:prstGeom>
          <a:solidFill>
            <a:srgbClr val="8EA2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3886200"/>
            <a:ext cx="9144000" cy="914400"/>
          </a:xfrm>
          <a:prstGeom prst="rect">
            <a:avLst/>
          </a:prstGeom>
          <a:noFill/>
        </p:spPr>
        <p:txBody>
          <a:bodyPr wrap="square" lIns="0" rIns="0" tIns="0" bIns="0">
            <a:spAutoFit/>
          </a:bodyPr>
          <a:lstStyle/>
          <a:p>
            <a:pPr algn="l">
              <a:lnSpc>
                <a:spcPct val="130000"/>
              </a:lnSpc>
              <a:spcAft>
                <a:spcPts val="600"/>
              </a:spcAft>
            </a:pPr>
            <a:r>
              <a:rPr sz="1300" b="0" i="0">
                <a:solidFill>
                  <a:srgbClr val="D3DDEE"/>
                </a:solidFill>
                <a:latin typeface="Calibri"/>
              </a:rPr>
              <a:t>Every figure is a legal reference, a measurement of the published artefacts (ontology v3.3.4, era-shapes, era-skos), or a measurement against the live knowledge graph on 22 August 2026.</a:t>
            </a:r>
          </a:p>
          <a:p>
            <a:pPr algn="l">
              <a:lnSpc>
                <a:spcPct val="130000"/>
              </a:lnSpc>
              <a:spcAft>
                <a:spcPts val="600"/>
              </a:spcAft>
            </a:pPr>
            <a:r>
              <a:rPr sz="1300" b="0" i="0">
                <a:solidFill>
                  <a:srgbClr val="D3DDEE"/>
                </a:solidFill>
                <a:latin typeface="Calibri"/>
              </a:rPr>
              <a:t>Parameter counts exclude owl:deprecated terms.</a:t>
            </a:r>
          </a:p>
        </p:txBody>
      </p:sp>
      <p:pic>
        <p:nvPicPr>
          <p:cNvPr id="7" name="Picture 6" descr="era-logo.png"/>
          <p:cNvPicPr>
            <a:picLocks noChangeAspect="1"/>
          </p:cNvPicPr>
          <p:nvPr/>
        </p:nvPicPr>
        <p:blipFill>
          <a:blip r:embed="rId2"/>
          <a:stretch>
            <a:fillRect/>
          </a:stretch>
        </p:blipFill>
        <p:spPr>
          <a:xfrm>
            <a:off x="868680" y="5257800"/>
            <a:ext cx="1175938"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84048"/>
            <a:ext cx="457200" cy="457200"/>
          </a:xfrm>
          <a:prstGeom prst="rect">
            <a:avLst/>
          </a:prstGeom>
          <a:solidFill>
            <a:srgbClr val="2F4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84632"/>
            <a:ext cx="457200" cy="365760"/>
          </a:xfrm>
          <a:prstGeom prst="rect">
            <a:avLst/>
          </a:prstGeom>
          <a:noFill/>
        </p:spPr>
        <p:txBody>
          <a:bodyPr wrap="square" lIns="0" rIns="0" tIns="0" bIns="0">
            <a:spAutoFit/>
          </a:bodyPr>
          <a:lstStyle/>
          <a:p>
            <a:pPr algn="ctr">
              <a:lnSpc>
                <a:spcPct val="125000"/>
              </a:lnSpc>
              <a:spcAft>
                <a:spcPts val="600"/>
              </a:spcAft>
            </a:pPr>
            <a:r>
              <a:rPr sz="1500" b="0" i="0">
                <a:solidFill>
                  <a:srgbClr val="FFFFFF"/>
                </a:solidFill>
                <a:latin typeface="Calibri"/>
              </a:rPr>
              <a:t>2</a:t>
            </a:r>
          </a:p>
        </p:txBody>
      </p:sp>
      <p:pic>
        <p:nvPicPr>
          <p:cNvPr id="4" name="Picture 3" descr="era-logo.png"/>
          <p:cNvPicPr>
            <a:picLocks noChangeAspect="1"/>
          </p:cNvPicPr>
          <p:nvPr/>
        </p:nvPicPr>
        <p:blipFill>
          <a:blip r:embed="rId2"/>
          <a:stretch>
            <a:fillRect/>
          </a:stretch>
        </p:blipFill>
        <p:spPr>
          <a:xfrm>
            <a:off x="1188720" y="329184"/>
            <a:ext cx="934720" cy="566928"/>
          </a:xfrm>
          <a:prstGeom prst="rect">
            <a:avLst/>
          </a:prstGeom>
        </p:spPr>
      </p:pic>
      <p:sp>
        <p:nvSpPr>
          <p:cNvPr id="5" name="TextBox 4"/>
          <p:cNvSpPr txBox="1"/>
          <p:nvPr/>
        </p:nvSpPr>
        <p:spPr>
          <a:xfrm>
            <a:off x="4937760" y="329184"/>
            <a:ext cx="6675120" cy="914400"/>
          </a:xfrm>
          <a:prstGeom prst="rect">
            <a:avLst/>
          </a:prstGeom>
          <a:noFill/>
        </p:spPr>
        <p:txBody>
          <a:bodyPr wrap="square" lIns="0" rIns="0" tIns="0" bIns="0">
            <a:spAutoFit/>
          </a:bodyPr>
          <a:lstStyle/>
          <a:p>
            <a:pPr algn="r">
              <a:lnSpc>
                <a:spcPct val="106000"/>
              </a:lnSpc>
              <a:spcAft>
                <a:spcPts val="600"/>
              </a:spcAft>
            </a:pPr>
            <a:r>
              <a:rPr sz="2700" b="0" i="0">
                <a:solidFill>
                  <a:srgbClr val="595959"/>
                </a:solidFill>
                <a:latin typeface="Calibri"/>
              </a:rPr>
              <a:t>Not an interpretation of the law —
the law in machine-readable form</a:t>
            </a:r>
          </a:p>
        </p:txBody>
      </p:sp>
      <p:sp>
        <p:nvSpPr>
          <p:cNvPr id="6" name="TextBox 5"/>
          <p:cNvSpPr txBox="1"/>
          <p:nvPr/>
        </p:nvSpPr>
        <p:spPr>
          <a:xfrm>
            <a:off x="566928" y="1481328"/>
            <a:ext cx="11064240" cy="365760"/>
          </a:xfrm>
          <a:prstGeom prst="rect">
            <a:avLst/>
          </a:prstGeom>
          <a:noFill/>
        </p:spPr>
        <p:txBody>
          <a:bodyPr wrap="square" lIns="0" rIns="0" tIns="0" bIns="0">
            <a:spAutoFit/>
          </a:bodyPr>
          <a:lstStyle/>
          <a:p>
            <a:pPr algn="l">
              <a:lnSpc>
                <a:spcPct val="125000"/>
              </a:lnSpc>
              <a:spcAft>
                <a:spcPts val="600"/>
              </a:spcAft>
            </a:pPr>
            <a:r>
              <a:rPr sz="1550" b="1" i="0">
                <a:solidFill>
                  <a:srgbClr val="2E4372"/>
                </a:solidFill>
                <a:latin typeface="Calibri"/>
              </a:rPr>
              <a:t>Reg. (EU) 2019/777, as amended by (EU) 2023/1694, defines RINF as a numbered parameter list.</a:t>
            </a:r>
          </a:p>
        </p:txBody>
      </p:sp>
      <p:sp>
        <p:nvSpPr>
          <p:cNvPr id="7" name="TextBox 6"/>
          <p:cNvSpPr txBox="1"/>
          <p:nvPr/>
        </p:nvSpPr>
        <p:spPr>
          <a:xfrm>
            <a:off x="566928" y="1901952"/>
            <a:ext cx="11064240" cy="685800"/>
          </a:xfrm>
          <a:prstGeom prst="rect">
            <a:avLst/>
          </a:prstGeom>
          <a:noFill/>
        </p:spPr>
        <p:txBody>
          <a:bodyPr wrap="square" lIns="0" rIns="0" tIns="0" bIns="0">
            <a:spAutoFit/>
          </a:bodyPr>
          <a:lstStyle/>
          <a:p>
            <a:pPr algn="l">
              <a:lnSpc>
                <a:spcPct val="130000"/>
              </a:lnSpc>
              <a:spcAft>
                <a:spcPts val="600"/>
              </a:spcAft>
            </a:pPr>
            <a:r>
              <a:rPr sz="1350" b="0" i="0">
                <a:solidFill>
                  <a:srgbClr val="262626"/>
                </a:solidFill>
                <a:latin typeface="Consolas"/>
              </a:rPr>
              <a:t>era:rinfIndex</a:t>
            </a:r>
            <a:r>
              <a:rPr sz="1450" b="0" i="0">
                <a:solidFill>
                  <a:srgbClr val="262626"/>
                </a:solidFill>
                <a:latin typeface="Calibri"/>
              </a:rPr>
              <a:t> binds each property to its legal index: parameter </a:t>
            </a:r>
            <a:r>
              <a:rPr sz="1450" b="1" i="0">
                <a:solidFill>
                  <a:srgbClr val="262626"/>
                </a:solidFill>
                <a:latin typeface="Calibri"/>
              </a:rPr>
              <a:t>1.1.1.1.4.1 “Nominal track gauge”</a:t>
            </a:r>
            <a:r>
              <a:rPr sz="1450" b="0" i="0">
                <a:solidFill>
                  <a:srgbClr val="262626"/>
                </a:solidFill>
                <a:latin typeface="Calibri"/>
              </a:rPr>
              <a:t> is </a:t>
            </a:r>
            <a:r>
              <a:rPr sz="1350" b="0" i="0">
                <a:solidFill>
                  <a:srgbClr val="262626"/>
                </a:solidFill>
                <a:latin typeface="Consolas"/>
              </a:rPr>
              <a:t>era:wheelSetGauge</a:t>
            </a:r>
            <a:r>
              <a:rPr sz="1450" b="0" i="0">
                <a:solidFill>
                  <a:srgbClr val="262626"/>
                </a:solidFill>
                <a:latin typeface="Calibri"/>
              </a:rPr>
              <a:t>. The trace from legal text to data field is machine-checkable, not a documentation promise.</a:t>
            </a:r>
          </a:p>
        </p:txBody>
      </p:sp>
      <p:sp>
        <p:nvSpPr>
          <p:cNvPr id="8" name="Rectangle 7"/>
          <p:cNvSpPr/>
          <p:nvPr/>
        </p:nvSpPr>
        <p:spPr>
          <a:xfrm>
            <a:off x="566928" y="2743200"/>
            <a:ext cx="2606040" cy="106070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743200"/>
            <a:ext cx="45720" cy="1060704"/>
          </a:xfrm>
          <a:prstGeom prst="rect">
            <a:avLst/>
          </a:prstGeom>
          <a:solidFill>
            <a:srgbClr val="2E4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798064"/>
            <a:ext cx="2286000" cy="402336"/>
          </a:xfrm>
          <a:prstGeom prst="rect">
            <a:avLst/>
          </a:prstGeom>
          <a:noFill/>
        </p:spPr>
        <p:txBody>
          <a:bodyPr wrap="square" lIns="0" rIns="0" tIns="0" bIns="0">
            <a:spAutoFit/>
          </a:bodyPr>
          <a:lstStyle/>
          <a:p>
            <a:pPr algn="l">
              <a:lnSpc>
                <a:spcPct val="110000"/>
              </a:lnSpc>
              <a:spcAft>
                <a:spcPts val="0"/>
              </a:spcAft>
            </a:pPr>
            <a:r>
              <a:rPr sz="2200" b="1" i="0">
                <a:solidFill>
                  <a:srgbClr val="2E4372"/>
                </a:solidFill>
                <a:latin typeface="Calibri"/>
              </a:rPr>
              <a:t>292</a:t>
            </a:r>
          </a:p>
        </p:txBody>
      </p:sp>
      <p:sp>
        <p:nvSpPr>
          <p:cNvPr id="11" name="TextBox 10"/>
          <p:cNvSpPr txBox="1"/>
          <p:nvPr/>
        </p:nvSpPr>
        <p:spPr>
          <a:xfrm>
            <a:off x="731520" y="3200400"/>
            <a:ext cx="2331720" cy="566928"/>
          </a:xfrm>
          <a:prstGeom prst="rect">
            <a:avLst/>
          </a:prstGeom>
          <a:noFill/>
        </p:spPr>
        <p:txBody>
          <a:bodyPr wrap="square" lIns="0" rIns="0" tIns="0" bIns="0">
            <a:spAutoFit/>
          </a:bodyPr>
          <a:lstStyle/>
          <a:p>
            <a:pPr algn="l">
              <a:lnSpc>
                <a:spcPct val="115000"/>
              </a:lnSpc>
              <a:spcAft>
                <a:spcPts val="600"/>
              </a:spcAft>
            </a:pPr>
            <a:r>
              <a:rPr sz="1000" b="0" i="0">
                <a:solidFill>
                  <a:srgbClr val="5B6577"/>
                </a:solidFill>
                <a:latin typeface="Calibri"/>
              </a:rPr>
              <a:t>Live RINF parameters
(37 more deprecated)</a:t>
            </a:r>
          </a:p>
        </p:txBody>
      </p:sp>
      <p:sp>
        <p:nvSpPr>
          <p:cNvPr id="12" name="Rectangle 11"/>
          <p:cNvSpPr/>
          <p:nvPr/>
        </p:nvSpPr>
        <p:spPr>
          <a:xfrm>
            <a:off x="3355848" y="2743200"/>
            <a:ext cx="2606040" cy="106070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55848" y="2743200"/>
            <a:ext cx="45720" cy="1060704"/>
          </a:xfrm>
          <a:prstGeom prst="rect">
            <a:avLst/>
          </a:prstGeom>
          <a:solidFill>
            <a:srgbClr val="2E4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0440" y="2798064"/>
            <a:ext cx="2286000" cy="402336"/>
          </a:xfrm>
          <a:prstGeom prst="rect">
            <a:avLst/>
          </a:prstGeom>
          <a:noFill/>
        </p:spPr>
        <p:txBody>
          <a:bodyPr wrap="square" lIns="0" rIns="0" tIns="0" bIns="0">
            <a:spAutoFit/>
          </a:bodyPr>
          <a:lstStyle/>
          <a:p>
            <a:pPr algn="l">
              <a:lnSpc>
                <a:spcPct val="110000"/>
              </a:lnSpc>
              <a:spcAft>
                <a:spcPts val="0"/>
              </a:spcAft>
            </a:pPr>
            <a:r>
              <a:rPr sz="2200" b="1" i="0">
                <a:solidFill>
                  <a:srgbClr val="2E4372"/>
                </a:solidFill>
                <a:latin typeface="Calibri"/>
              </a:rPr>
              <a:t>4</a:t>
            </a:r>
          </a:p>
        </p:txBody>
      </p:sp>
      <p:sp>
        <p:nvSpPr>
          <p:cNvPr id="15" name="TextBox 14"/>
          <p:cNvSpPr txBox="1"/>
          <p:nvPr/>
        </p:nvSpPr>
        <p:spPr>
          <a:xfrm>
            <a:off x="3520440" y="3200400"/>
            <a:ext cx="2331720" cy="566928"/>
          </a:xfrm>
          <a:prstGeom prst="rect">
            <a:avLst/>
          </a:prstGeom>
          <a:noFill/>
        </p:spPr>
        <p:txBody>
          <a:bodyPr wrap="square" lIns="0" rIns="0" tIns="0" bIns="0">
            <a:spAutoFit/>
          </a:bodyPr>
          <a:lstStyle/>
          <a:p>
            <a:pPr algn="l">
              <a:lnSpc>
                <a:spcPct val="115000"/>
              </a:lnSpc>
              <a:spcAft>
                <a:spcPts val="600"/>
              </a:spcAft>
            </a:pPr>
            <a:r>
              <a:rPr sz="1000" b="0" i="0">
                <a:solidFill>
                  <a:srgbClr val="5B6577"/>
                </a:solidFill>
                <a:latin typeface="Calibri"/>
              </a:rPr>
              <a:t>Registers on one vocabulary
RINF · ERATV · EVR · ERADIS</a:t>
            </a:r>
          </a:p>
        </p:txBody>
      </p:sp>
      <p:sp>
        <p:nvSpPr>
          <p:cNvPr id="16" name="Rectangle 15"/>
          <p:cNvSpPr/>
          <p:nvPr/>
        </p:nvSpPr>
        <p:spPr>
          <a:xfrm>
            <a:off x="6144768" y="2743200"/>
            <a:ext cx="2606040" cy="106070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44768" y="2743200"/>
            <a:ext cx="45720" cy="1060704"/>
          </a:xfrm>
          <a:prstGeom prst="rect">
            <a:avLst/>
          </a:prstGeom>
          <a:solidFill>
            <a:srgbClr val="2E4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2798064"/>
            <a:ext cx="2286000" cy="402336"/>
          </a:xfrm>
          <a:prstGeom prst="rect">
            <a:avLst/>
          </a:prstGeom>
          <a:noFill/>
        </p:spPr>
        <p:txBody>
          <a:bodyPr wrap="square" lIns="0" rIns="0" tIns="0" bIns="0">
            <a:spAutoFit/>
          </a:bodyPr>
          <a:lstStyle/>
          <a:p>
            <a:pPr algn="l">
              <a:lnSpc>
                <a:spcPct val="110000"/>
              </a:lnSpc>
              <a:spcAft>
                <a:spcPts val="0"/>
              </a:spcAft>
            </a:pPr>
            <a:r>
              <a:rPr sz="2200" b="1" i="0">
                <a:solidFill>
                  <a:srgbClr val="2E4372"/>
                </a:solidFill>
                <a:latin typeface="Calibri"/>
              </a:rPr>
              <a:t>420</a:t>
            </a:r>
          </a:p>
        </p:txBody>
      </p:sp>
      <p:sp>
        <p:nvSpPr>
          <p:cNvPr id="19" name="TextBox 18"/>
          <p:cNvSpPr txBox="1"/>
          <p:nvPr/>
        </p:nvSpPr>
        <p:spPr>
          <a:xfrm>
            <a:off x="6309360" y="3200400"/>
            <a:ext cx="2331720" cy="566928"/>
          </a:xfrm>
          <a:prstGeom prst="rect">
            <a:avLst/>
          </a:prstGeom>
          <a:noFill/>
        </p:spPr>
        <p:txBody>
          <a:bodyPr wrap="square" lIns="0" rIns="0" tIns="0" bIns="0">
            <a:spAutoFit/>
          </a:bodyPr>
          <a:lstStyle/>
          <a:p>
            <a:pPr algn="l">
              <a:lnSpc>
                <a:spcPct val="115000"/>
              </a:lnSpc>
              <a:spcAft>
                <a:spcPts val="600"/>
              </a:spcAft>
            </a:pPr>
            <a:r>
              <a:rPr sz="1000" b="0" i="0">
                <a:solidFill>
                  <a:srgbClr val="5B6577"/>
                </a:solidFill>
                <a:latin typeface="Calibri"/>
              </a:rPr>
              <a:t>Ontology terms citing
79 legal acts via ELI</a:t>
            </a:r>
          </a:p>
        </p:txBody>
      </p:sp>
      <p:sp>
        <p:nvSpPr>
          <p:cNvPr id="20" name="Rectangle 19"/>
          <p:cNvSpPr/>
          <p:nvPr/>
        </p:nvSpPr>
        <p:spPr>
          <a:xfrm>
            <a:off x="8933687" y="2743200"/>
            <a:ext cx="2606040" cy="106070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33687" y="2743200"/>
            <a:ext cx="45720" cy="1060704"/>
          </a:xfrm>
          <a:prstGeom prst="rect">
            <a:avLst/>
          </a:prstGeom>
          <a:solidFill>
            <a:srgbClr val="2E4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98279" y="2798064"/>
            <a:ext cx="2286000" cy="402336"/>
          </a:xfrm>
          <a:prstGeom prst="rect">
            <a:avLst/>
          </a:prstGeom>
          <a:noFill/>
        </p:spPr>
        <p:txBody>
          <a:bodyPr wrap="square" lIns="0" rIns="0" tIns="0" bIns="0">
            <a:spAutoFit/>
          </a:bodyPr>
          <a:lstStyle/>
          <a:p>
            <a:pPr algn="l">
              <a:lnSpc>
                <a:spcPct val="110000"/>
              </a:lnSpc>
              <a:spcAft>
                <a:spcPts val="0"/>
              </a:spcAft>
            </a:pPr>
            <a:r>
              <a:rPr sz="2200" b="1" i="0">
                <a:solidFill>
                  <a:srgbClr val="2E4372"/>
                </a:solidFill>
                <a:latin typeface="Calibri"/>
              </a:rPr>
              <a:t>27</a:t>
            </a:r>
          </a:p>
        </p:txBody>
      </p:sp>
      <p:sp>
        <p:nvSpPr>
          <p:cNvPr id="23" name="TextBox 22"/>
          <p:cNvSpPr txBox="1"/>
          <p:nvPr/>
        </p:nvSpPr>
        <p:spPr>
          <a:xfrm>
            <a:off x="9098279" y="3200400"/>
            <a:ext cx="2331720" cy="566928"/>
          </a:xfrm>
          <a:prstGeom prst="rect">
            <a:avLst/>
          </a:prstGeom>
          <a:noFill/>
        </p:spPr>
        <p:txBody>
          <a:bodyPr wrap="square" lIns="0" rIns="0" tIns="0" bIns="0">
            <a:spAutoFit/>
          </a:bodyPr>
          <a:lstStyle/>
          <a:p>
            <a:pPr algn="l">
              <a:lnSpc>
                <a:spcPct val="115000"/>
              </a:lnSpc>
              <a:spcAft>
                <a:spcPts val="600"/>
              </a:spcAft>
            </a:pPr>
            <a:r>
              <a:rPr sz="1000" b="0" i="0">
                <a:solidFill>
                  <a:srgbClr val="5B6577"/>
                </a:solidFill>
                <a:latin typeface="Calibri"/>
              </a:rPr>
              <a:t>Countries publishing,
54 national datasets</a:t>
            </a:r>
          </a:p>
        </p:txBody>
      </p:sp>
      <p:sp>
        <p:nvSpPr>
          <p:cNvPr id="24" name="Rectangle 23"/>
          <p:cNvSpPr/>
          <p:nvPr/>
        </p:nvSpPr>
        <p:spPr>
          <a:xfrm>
            <a:off x="566928" y="4069080"/>
            <a:ext cx="11064240" cy="868680"/>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6928" y="4069080"/>
            <a:ext cx="45720" cy="868680"/>
          </a:xfrm>
          <a:prstGeom prst="rect">
            <a:avLst/>
          </a:prstGeom>
          <a:solidFill>
            <a:srgbClr val="255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4197096"/>
            <a:ext cx="10680192" cy="685800"/>
          </a:xfrm>
          <a:prstGeom prst="rect">
            <a:avLst/>
          </a:prstGeom>
          <a:noFill/>
        </p:spPr>
        <p:txBody>
          <a:bodyPr wrap="square" lIns="0" rIns="0" tIns="0" bIns="0">
            <a:spAutoFit/>
          </a:bodyPr>
          <a:lstStyle/>
          <a:p>
            <a:pPr algn="l">
              <a:lnSpc>
                <a:spcPct val="122000"/>
              </a:lnSpc>
              <a:spcAft>
                <a:spcPts val="600"/>
              </a:spcAft>
            </a:pPr>
            <a:r>
              <a:rPr sz="1350" b="1" i="0">
                <a:solidFill>
                  <a:srgbClr val="255C45"/>
                </a:solidFill>
                <a:latin typeface="Calibri"/>
              </a:rPr>
              <a:t>The chain runs end to end. </a:t>
            </a:r>
            <a:r>
              <a:rPr sz="1350" b="0" i="0">
                <a:solidFill>
                  <a:srgbClr val="262626"/>
                </a:solidFill>
                <a:latin typeface="Calibri"/>
              </a:rPr>
              <a:t>era:tsiMagneticFields carries RINF index 1.1.1.3.9.1 and points at eli/reg_impl/2023/1695/oj — the act in the Official Journal. Data field → legal parameter → provision, with no human in the loop.</a:t>
            </a:r>
          </a:p>
        </p:txBody>
      </p:sp>
      <p:sp>
        <p:nvSpPr>
          <p:cNvPr id="27" name="Rectangle 26"/>
          <p:cNvSpPr/>
          <p:nvPr/>
        </p:nvSpPr>
        <p:spPr>
          <a:xfrm>
            <a:off x="566928" y="5138928"/>
            <a:ext cx="11064240" cy="868680"/>
          </a:xfrm>
          <a:prstGeom prst="rect">
            <a:avLst/>
          </a:prstGeom>
          <a:solidFill>
            <a:srgbClr val="FBF1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5138928"/>
            <a:ext cx="45720" cy="868680"/>
          </a:xfrm>
          <a:prstGeom prst="rect">
            <a:avLst/>
          </a:prstGeom>
          <a:solidFill>
            <a:srgbClr val="8A56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 y="5266944"/>
            <a:ext cx="10680192" cy="685800"/>
          </a:xfrm>
          <a:prstGeom prst="rect">
            <a:avLst/>
          </a:prstGeom>
          <a:noFill/>
        </p:spPr>
        <p:txBody>
          <a:bodyPr wrap="square" lIns="0" rIns="0" tIns="0" bIns="0">
            <a:spAutoFit/>
          </a:bodyPr>
          <a:lstStyle/>
          <a:p>
            <a:pPr algn="l">
              <a:lnSpc>
                <a:spcPct val="122000"/>
              </a:lnSpc>
              <a:spcAft>
                <a:spcPts val="600"/>
              </a:spcAft>
            </a:pPr>
            <a:r>
              <a:rPr sz="1350" b="1" i="0">
                <a:solidFill>
                  <a:srgbClr val="8A5610"/>
                </a:solidFill>
                <a:latin typeface="Calibri"/>
              </a:rPr>
              <a:t>Stated plainly. </a:t>
            </a:r>
            <a:r>
              <a:rPr sz="1350" b="0" i="0">
                <a:solidFill>
                  <a:srgbClr val="262626"/>
                </a:solidFill>
                <a:latin typeface="Calibri"/>
              </a:rPr>
              <a:t>The vocabulary spans four registers, but only RINF data is openly queryable today; and the deployed validation carries roughly half the published shapes (76 node shapes against 147).</a:t>
            </a:r>
          </a:p>
        </p:txBody>
      </p:sp>
      <p:sp>
        <p:nvSpPr>
          <p:cNvPr id="30" name="TextBox 29"/>
          <p:cNvSpPr txBox="1"/>
          <p:nvPr/>
        </p:nvSpPr>
        <p:spPr>
          <a:xfrm>
            <a:off x="566928" y="6382512"/>
            <a:ext cx="8686800" cy="274320"/>
          </a:xfrm>
          <a:prstGeom prst="rect">
            <a:avLst/>
          </a:prstGeom>
          <a:noFill/>
        </p:spPr>
        <p:txBody>
          <a:bodyPr wrap="square" lIns="0" rIns="0" tIns="0" bIns="0">
            <a:spAutoFit/>
          </a:bodyPr>
          <a:lstStyle/>
          <a:p>
            <a:pPr algn="l">
              <a:lnSpc>
                <a:spcPct val="125000"/>
              </a:lnSpc>
              <a:spcAft>
                <a:spcPts val="600"/>
              </a:spcAft>
            </a:pPr>
            <a:r>
              <a:rPr sz="950" b="0" i="0">
                <a:solidFill>
                  <a:srgbClr val="8A93A6"/>
                </a:solidFill>
                <a:latin typeface="Calibri"/>
              </a:rPr>
              <a:t>ERA Ontology v3.3.4 · EUPL 1.2 · DOI 10.5281/zenodo.15089005</a:t>
            </a:r>
          </a:p>
        </p:txBody>
      </p:sp>
      <p:sp>
        <p:nvSpPr>
          <p:cNvPr id="31" name="TextBox 30"/>
          <p:cNvSpPr txBox="1"/>
          <p:nvPr/>
        </p:nvSpPr>
        <p:spPr>
          <a:xfrm>
            <a:off x="10972800" y="6382512"/>
            <a:ext cx="640080" cy="274320"/>
          </a:xfrm>
          <a:prstGeom prst="rect">
            <a:avLst/>
          </a:prstGeom>
          <a:noFill/>
        </p:spPr>
        <p:txBody>
          <a:bodyPr wrap="square" lIns="0" rIns="0" tIns="0" bIns="0">
            <a:spAutoFit/>
          </a:bodyPr>
          <a:lstStyle/>
          <a:p>
            <a:pPr algn="r">
              <a:lnSpc>
                <a:spcPct val="125000"/>
              </a:lnSpc>
              <a:spcAft>
                <a:spcPts val="600"/>
              </a:spcAft>
            </a:pPr>
            <a:r>
              <a:rPr sz="950" b="0" i="0">
                <a:solidFill>
                  <a:srgbClr val="8A93A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84048"/>
            <a:ext cx="457200" cy="457200"/>
          </a:xfrm>
          <a:prstGeom prst="rect">
            <a:avLst/>
          </a:prstGeom>
          <a:solidFill>
            <a:srgbClr val="2F4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84632"/>
            <a:ext cx="457200" cy="365760"/>
          </a:xfrm>
          <a:prstGeom prst="rect">
            <a:avLst/>
          </a:prstGeom>
          <a:noFill/>
        </p:spPr>
        <p:txBody>
          <a:bodyPr wrap="square" lIns="0" rIns="0" tIns="0" bIns="0">
            <a:spAutoFit/>
          </a:bodyPr>
          <a:lstStyle/>
          <a:p>
            <a:pPr algn="ctr">
              <a:lnSpc>
                <a:spcPct val="125000"/>
              </a:lnSpc>
              <a:spcAft>
                <a:spcPts val="600"/>
              </a:spcAft>
            </a:pPr>
            <a:r>
              <a:rPr sz="1500" b="0" i="0">
                <a:solidFill>
                  <a:srgbClr val="FFFFFF"/>
                </a:solidFill>
                <a:latin typeface="Calibri"/>
              </a:rPr>
              <a:t>3</a:t>
            </a:r>
          </a:p>
        </p:txBody>
      </p:sp>
      <p:pic>
        <p:nvPicPr>
          <p:cNvPr id="4" name="Picture 3" descr="era-logo.png"/>
          <p:cNvPicPr>
            <a:picLocks noChangeAspect="1"/>
          </p:cNvPicPr>
          <p:nvPr/>
        </p:nvPicPr>
        <p:blipFill>
          <a:blip r:embed="rId2"/>
          <a:stretch>
            <a:fillRect/>
          </a:stretch>
        </p:blipFill>
        <p:spPr>
          <a:xfrm>
            <a:off x="1188720" y="329184"/>
            <a:ext cx="934720" cy="566928"/>
          </a:xfrm>
          <a:prstGeom prst="rect">
            <a:avLst/>
          </a:prstGeom>
        </p:spPr>
      </p:pic>
      <p:sp>
        <p:nvSpPr>
          <p:cNvPr id="5" name="TextBox 4"/>
          <p:cNvSpPr txBox="1"/>
          <p:nvPr/>
        </p:nvSpPr>
        <p:spPr>
          <a:xfrm>
            <a:off x="4937760" y="329184"/>
            <a:ext cx="6675120" cy="914400"/>
          </a:xfrm>
          <a:prstGeom prst="rect">
            <a:avLst/>
          </a:prstGeom>
          <a:noFill/>
        </p:spPr>
        <p:txBody>
          <a:bodyPr wrap="square" lIns="0" rIns="0" tIns="0" bIns="0">
            <a:spAutoFit/>
          </a:bodyPr>
          <a:lstStyle/>
          <a:p>
            <a:pPr algn="r">
              <a:lnSpc>
                <a:spcPct val="106000"/>
              </a:lnSpc>
              <a:spcAft>
                <a:spcPts val="600"/>
              </a:spcAft>
            </a:pPr>
            <a:r>
              <a:rPr sz="2700" b="0" i="0">
                <a:solidFill>
                  <a:srgbClr val="595959"/>
                </a:solidFill>
                <a:latin typeface="Calibri"/>
              </a:rPr>
              <a:t>One URI, reusable everywhere</a:t>
            </a:r>
          </a:p>
        </p:txBody>
      </p:sp>
      <p:sp>
        <p:nvSpPr>
          <p:cNvPr id="6" name="TextBox 5"/>
          <p:cNvSpPr txBox="1"/>
          <p:nvPr/>
        </p:nvSpPr>
        <p:spPr>
          <a:xfrm>
            <a:off x="566928" y="1481328"/>
            <a:ext cx="11064240" cy="320040"/>
          </a:xfrm>
          <a:prstGeom prst="rect">
            <a:avLst/>
          </a:prstGeom>
          <a:noFill/>
        </p:spPr>
        <p:txBody>
          <a:bodyPr wrap="square" lIns="0" rIns="0" tIns="0" bIns="0">
            <a:spAutoFit/>
          </a:bodyPr>
          <a:lstStyle/>
          <a:p>
            <a:pPr algn="l">
              <a:lnSpc>
                <a:spcPct val="125000"/>
              </a:lnSpc>
              <a:spcAft>
                <a:spcPts val="600"/>
              </a:spcAft>
            </a:pPr>
            <a:r>
              <a:rPr sz="1550" b="1" i="0">
                <a:solidFill>
                  <a:srgbClr val="2E4372"/>
                </a:solidFill>
                <a:latin typeface="Calibri"/>
              </a:rPr>
              <a:t>A thing gets one identifier, and everyone points at it instead of describing it again.</a:t>
            </a:r>
          </a:p>
        </p:txBody>
      </p:sp>
      <p:sp>
        <p:nvSpPr>
          <p:cNvPr id="7" name="TextBox 6"/>
          <p:cNvSpPr txBox="1"/>
          <p:nvPr/>
        </p:nvSpPr>
        <p:spPr>
          <a:xfrm>
            <a:off x="566928" y="1938528"/>
            <a:ext cx="5394960" cy="274320"/>
          </a:xfrm>
          <a:prstGeom prst="rect">
            <a:avLst/>
          </a:prstGeom>
          <a:noFill/>
        </p:spPr>
        <p:txBody>
          <a:bodyPr wrap="square" lIns="0" rIns="0" tIns="0" bIns="0">
            <a:spAutoFit/>
          </a:bodyPr>
          <a:lstStyle/>
          <a:p>
            <a:pPr algn="l">
              <a:lnSpc>
                <a:spcPct val="125000"/>
              </a:lnSpc>
              <a:spcAft>
                <a:spcPts val="600"/>
              </a:spcAft>
            </a:pPr>
            <a:r>
              <a:rPr sz="1350" b="1" i="0">
                <a:solidFill>
                  <a:srgbClr val="2E4372"/>
                </a:solidFill>
                <a:latin typeface="Calibri"/>
              </a:rPr>
              <a:t>Reuse what already exists</a:t>
            </a:r>
          </a:p>
        </p:txBody>
      </p:sp>
      <p:sp>
        <p:nvSpPr>
          <p:cNvPr id="8" name="TextBox 7"/>
          <p:cNvSpPr txBox="1"/>
          <p:nvPr/>
        </p:nvSpPr>
        <p:spPr>
          <a:xfrm>
            <a:off x="566928" y="2286000"/>
            <a:ext cx="5394960" cy="1645920"/>
          </a:xfrm>
          <a:prstGeom prst="rect">
            <a:avLst/>
          </a:prstGeom>
          <a:noFill/>
        </p:spPr>
        <p:txBody>
          <a:bodyPr wrap="square" lIns="0" rIns="0" tIns="0" bIns="0">
            <a:spAutoFit/>
          </a:bodyPr>
          <a:lstStyle/>
          <a:p>
            <a:pPr algn="l">
              <a:lnSpc>
                <a:spcPct val="125000"/>
              </a:lnSpc>
              <a:spcAft>
                <a:spcPts val="400"/>
              </a:spcAft>
            </a:pPr>
            <a:r>
              <a:rPr sz="1300" b="0" i="0">
                <a:solidFill>
                  <a:srgbClr val="262626"/>
                </a:solidFill>
                <a:latin typeface="Calibri"/>
              </a:rPr>
              <a:t>•  90,235 references to ELI legal acts</a:t>
            </a:r>
          </a:p>
          <a:p>
            <a:pPr algn="l">
              <a:lnSpc>
                <a:spcPct val="125000"/>
              </a:lnSpc>
              <a:spcAft>
                <a:spcPts val="400"/>
              </a:spcAft>
            </a:pPr>
            <a:r>
              <a:rPr sz="1300" b="0" i="0">
                <a:solidFill>
                  <a:srgbClr val="262626"/>
                </a:solidFill>
                <a:latin typeface="Calibri"/>
              </a:rPr>
              <a:t>•  6,688 to Publications Office corporate bodies</a:t>
            </a:r>
          </a:p>
          <a:p>
            <a:pPr algn="l">
              <a:lnSpc>
                <a:spcPct val="125000"/>
              </a:lnSpc>
              <a:spcAft>
                <a:spcPts val="400"/>
              </a:spcAft>
            </a:pPr>
            <a:r>
              <a:rPr sz="1300" b="0" i="0">
                <a:solidFill>
                  <a:srgbClr val="262626"/>
                </a:solidFill>
                <a:latin typeface="Calibri"/>
              </a:rPr>
              <a:t>•  1,863 to its language authority</a:t>
            </a:r>
          </a:p>
          <a:p>
            <a:pPr algn="l">
              <a:lnSpc>
                <a:spcPct val="125000"/>
              </a:lnSpc>
              <a:spcAft>
                <a:spcPts val="400"/>
              </a:spcAft>
            </a:pPr>
            <a:r>
              <a:rPr sz="1300" b="0" i="0">
                <a:solidFill>
                  <a:srgbClr val="262626"/>
                </a:solidFill>
                <a:latin typeface="Calibri"/>
              </a:rPr>
              <a:t>•  1,092 to EuroVoc subjects · 93 to treaties</a:t>
            </a:r>
          </a:p>
          <a:p>
            <a:pPr algn="l">
              <a:lnSpc>
                <a:spcPct val="125000"/>
              </a:lnSpc>
              <a:spcAft>
                <a:spcPts val="400"/>
              </a:spcAft>
            </a:pPr>
            <a:r>
              <a:rPr sz="1300" b="0" i="0">
                <a:solidFill>
                  <a:srgbClr val="262626"/>
                </a:solidFill>
                <a:latin typeface="Calibri"/>
              </a:rPr>
              <a:t>•  Countries are Publications Office URIs, not ERA codes</a:t>
            </a:r>
          </a:p>
        </p:txBody>
      </p:sp>
      <p:sp>
        <p:nvSpPr>
          <p:cNvPr id="9" name="TextBox 8"/>
          <p:cNvSpPr txBox="1"/>
          <p:nvPr/>
        </p:nvSpPr>
        <p:spPr>
          <a:xfrm>
            <a:off x="6263640" y="1938528"/>
            <a:ext cx="5349240" cy="274320"/>
          </a:xfrm>
          <a:prstGeom prst="rect">
            <a:avLst/>
          </a:prstGeom>
          <a:noFill/>
        </p:spPr>
        <p:txBody>
          <a:bodyPr wrap="square" lIns="0" rIns="0" tIns="0" bIns="0">
            <a:spAutoFit/>
          </a:bodyPr>
          <a:lstStyle/>
          <a:p>
            <a:pPr algn="l">
              <a:lnSpc>
                <a:spcPct val="125000"/>
              </a:lnSpc>
              <a:spcAft>
                <a:spcPts val="600"/>
              </a:spcAft>
            </a:pPr>
            <a:r>
              <a:rPr sz="1350" b="1" i="0">
                <a:solidFill>
                  <a:srgbClr val="2E4372"/>
                </a:solidFill>
                <a:latin typeface="Calibri"/>
              </a:rPr>
              <a:t>Mint once, reuse across registers</a:t>
            </a:r>
          </a:p>
        </p:txBody>
      </p:sp>
      <p:sp>
        <p:nvSpPr>
          <p:cNvPr id="10" name="TextBox 9"/>
          <p:cNvSpPr txBox="1"/>
          <p:nvPr/>
        </p:nvSpPr>
        <p:spPr>
          <a:xfrm>
            <a:off x="6263640" y="2286000"/>
            <a:ext cx="5349240" cy="1645920"/>
          </a:xfrm>
          <a:prstGeom prst="rect">
            <a:avLst/>
          </a:prstGeom>
          <a:noFill/>
        </p:spPr>
        <p:txBody>
          <a:bodyPr wrap="square" lIns="0" rIns="0" tIns="0" bIns="0">
            <a:spAutoFit/>
          </a:bodyPr>
          <a:lstStyle/>
          <a:p>
            <a:pPr algn="l">
              <a:lnSpc>
                <a:spcPct val="125000"/>
              </a:lnSpc>
              <a:spcAft>
                <a:spcPts val="400"/>
              </a:spcAft>
            </a:pPr>
            <a:r>
              <a:rPr sz="1300" b="0" i="0">
                <a:solidFill>
                  <a:srgbClr val="262626"/>
                </a:solidFill>
                <a:latin typeface="Calibri"/>
              </a:rPr>
              <a:t>•  body/organisation/0080 is DB InfraGO — holding IM, RU, ECM, Keeper, Owner and ECM-CB roles at once</a:t>
            </a:r>
          </a:p>
          <a:p>
            <a:pPr algn="l">
              <a:lnSpc>
                <a:spcPct val="125000"/>
              </a:lnSpc>
              <a:spcAft>
                <a:spcPts val="400"/>
              </a:spcAft>
            </a:pPr>
            <a:r>
              <a:rPr sz="1300" b="0" i="0">
                <a:solidFill>
                  <a:srgbClr val="262626"/>
                </a:solidFill>
                <a:latin typeface="Calibri"/>
              </a:rPr>
              <a:t>•  Those roles belong to different registers: IM→RINF, Keeper/Owner/ECM→EVR, certification→ERADIS</a:t>
            </a:r>
          </a:p>
          <a:p>
            <a:pPr algn="l">
              <a:lnSpc>
                <a:spcPct val="125000"/>
              </a:lnSpc>
              <a:spcAft>
                <a:spcPts val="400"/>
              </a:spcAft>
            </a:pPr>
            <a:r>
              <a:rPr sz="1300" b="0" i="0">
                <a:solidFill>
                  <a:srgbClr val="262626"/>
                </a:solidFill>
                <a:latin typeface="Calibri"/>
              </a:rPr>
              <a:t>•  665,487 infrastructure elements name that one URI as their manager</a:t>
            </a:r>
          </a:p>
          <a:p>
            <a:pPr algn="l">
              <a:lnSpc>
                <a:spcPct val="125000"/>
              </a:lnSpc>
              <a:spcAft>
                <a:spcPts val="400"/>
              </a:spcAft>
            </a:pPr>
            <a:r>
              <a:rPr sz="1300" b="0" i="0">
                <a:solidFill>
                  <a:srgbClr val="262626"/>
                </a:solidFill>
                <a:latin typeface="Calibri"/>
              </a:rPr>
              <a:t>•  2,909 of 5,528 organisations (53%) hold more than one role</a:t>
            </a:r>
          </a:p>
        </p:txBody>
      </p:sp>
      <p:sp>
        <p:nvSpPr>
          <p:cNvPr id="11" name="TextBox 10"/>
          <p:cNvSpPr txBox="1"/>
          <p:nvPr/>
        </p:nvSpPr>
        <p:spPr>
          <a:xfrm>
            <a:off x="566928" y="4041648"/>
            <a:ext cx="5394960" cy="274320"/>
          </a:xfrm>
          <a:prstGeom prst="rect">
            <a:avLst/>
          </a:prstGeom>
          <a:noFill/>
        </p:spPr>
        <p:txBody>
          <a:bodyPr wrap="square" lIns="0" rIns="0" tIns="0" bIns="0">
            <a:spAutoFit/>
          </a:bodyPr>
          <a:lstStyle/>
          <a:p>
            <a:pPr algn="l">
              <a:lnSpc>
                <a:spcPct val="125000"/>
              </a:lnSpc>
              <a:spcAft>
                <a:spcPts val="600"/>
              </a:spcAft>
            </a:pPr>
            <a:r>
              <a:rPr sz="1350" b="1" i="0">
                <a:solidFill>
                  <a:srgbClr val="2E4372"/>
                </a:solidFill>
                <a:latin typeface="Calibri"/>
              </a:rPr>
              <a:t>One question, 27 countries, seconds</a:t>
            </a:r>
          </a:p>
        </p:txBody>
      </p:sp>
      <p:graphicFrame>
        <p:nvGraphicFramePr>
          <p:cNvPr id="12" name="Table 11"/>
          <p:cNvGraphicFramePr>
            <a:graphicFrameLocks noGrp="1"/>
          </p:cNvGraphicFramePr>
          <p:nvPr/>
        </p:nvGraphicFramePr>
        <p:xfrm>
          <a:off x="566928" y="4370832"/>
          <a:ext cx="5394958" cy="1325880"/>
        </p:xfrm>
        <a:graphic>
          <a:graphicData uri="http://schemas.openxmlformats.org/drawingml/2006/table">
            <a:tbl>
              <a:tblPr firstRow="1" bandRow="1">
                <a:tableStyleId>{5C22544A-7EE6-4342-B048-85BDC9FD1C3A}</a:tableStyleId>
              </a:tblPr>
              <a:tblGrid>
                <a:gridCol w="1186891"/>
                <a:gridCol w="2319832"/>
                <a:gridCol w="1888235"/>
              </a:tblGrid>
              <a:tr h="265176">
                <a:tc>
                  <a:txBody>
                    <a:bodyPr/>
                    <a:lstStyle/>
                    <a:p>
                      <a:pPr algn="l"/>
                      <a:r>
                        <a:rPr sz="1150" b="1">
                          <a:solidFill>
                            <a:srgbClr val="FFFFFF"/>
                          </a:solidFill>
                          <a:latin typeface="Calibri"/>
                        </a:rPr>
                        <a:t>Gauge</a:t>
                      </a:r>
                    </a:p>
                  </a:txBody>
                  <a:tcPr marL="82296" marR="82296" marT="27432" marB="27432" anchor="ctr">
                    <a:solidFill>
                      <a:srgbClr val="2E4372"/>
                    </a:solidFill>
                  </a:tcPr>
                </a:tc>
                <a:tc>
                  <a:txBody>
                    <a:bodyPr/>
                    <a:lstStyle/>
                    <a:p>
                      <a:pPr algn="l"/>
                      <a:r>
                        <a:rPr sz="1150" b="1">
                          <a:solidFill>
                            <a:srgbClr val="FFFFFF"/>
                          </a:solidFill>
                          <a:latin typeface="Calibri"/>
                        </a:rPr>
                        <a:t>Network</a:t>
                      </a:r>
                    </a:p>
                  </a:txBody>
                  <a:tcPr marL="82296" marR="82296" marT="27432" marB="27432" anchor="ctr">
                    <a:solidFill>
                      <a:srgbClr val="2E4372"/>
                    </a:solidFill>
                  </a:tcPr>
                </a:tc>
                <a:tc>
                  <a:txBody>
                    <a:bodyPr/>
                    <a:lstStyle/>
                    <a:p>
                      <a:pPr algn="l"/>
                      <a:r>
                        <a:rPr sz="1150" b="1">
                          <a:solidFill>
                            <a:srgbClr val="FFFFFF"/>
                          </a:solidFill>
                          <a:latin typeface="Calibri"/>
                        </a:rPr>
                        <a:t>Running tracks</a:t>
                      </a:r>
                    </a:p>
                  </a:txBody>
                  <a:tcPr marL="82296" marR="82296" marT="27432" marB="27432" anchor="ctr">
                    <a:solidFill>
                      <a:srgbClr val="2E4372"/>
                    </a:solidFill>
                  </a:tcPr>
                </a:tc>
              </a:tr>
              <a:tr h="265176">
                <a:tc>
                  <a:txBody>
                    <a:bodyPr/>
                    <a:lstStyle/>
                    <a:p>
                      <a:pPr algn="l"/>
                      <a:r>
                        <a:rPr sz="1150" b="0">
                          <a:solidFill>
                            <a:srgbClr val="262626"/>
                          </a:solidFill>
                          <a:latin typeface="Calibri"/>
                        </a:rPr>
                        <a:t>1435</a:t>
                      </a:r>
                    </a:p>
                  </a:txBody>
                  <a:tcPr marL="82296" marR="82296" marT="27432" marB="27432" anchor="ctr">
                    <a:solidFill>
                      <a:srgbClr val="DCE6F1"/>
                    </a:solidFill>
                  </a:tcPr>
                </a:tc>
                <a:tc>
                  <a:txBody>
                    <a:bodyPr/>
                    <a:lstStyle/>
                    <a:p>
                      <a:pPr algn="l"/>
                      <a:r>
                        <a:rPr sz="1150" b="0">
                          <a:solidFill>
                            <a:srgbClr val="262626"/>
                          </a:solidFill>
                          <a:latin typeface="Calibri"/>
                        </a:rPr>
                        <a:t>Standard</a:t>
                      </a:r>
                    </a:p>
                  </a:txBody>
                  <a:tcPr marL="82296" marR="82296" marT="27432" marB="27432" anchor="ctr">
                    <a:solidFill>
                      <a:srgbClr val="DCE6F1"/>
                    </a:solidFill>
                  </a:tcPr>
                </a:tc>
                <a:tc>
                  <a:txBody>
                    <a:bodyPr/>
                    <a:lstStyle/>
                    <a:p>
                      <a:pPr algn="r"/>
                      <a:r>
                        <a:rPr sz="1150" b="0">
                          <a:solidFill>
                            <a:srgbClr val="262626"/>
                          </a:solidFill>
                          <a:latin typeface="Calibri"/>
                        </a:rPr>
                        <a:t>697,901</a:t>
                      </a:r>
                    </a:p>
                  </a:txBody>
                  <a:tcPr marL="82296" marR="82296" marT="27432" marB="27432" anchor="ctr">
                    <a:solidFill>
                      <a:srgbClr val="DCE6F1"/>
                    </a:solidFill>
                  </a:tcPr>
                </a:tc>
              </a:tr>
              <a:tr h="265176">
                <a:tc>
                  <a:txBody>
                    <a:bodyPr/>
                    <a:lstStyle/>
                    <a:p>
                      <a:pPr algn="l"/>
                      <a:r>
                        <a:rPr sz="1150" b="0">
                          <a:solidFill>
                            <a:srgbClr val="262626"/>
                          </a:solidFill>
                          <a:latin typeface="Calibri"/>
                        </a:rPr>
                        <a:t>1668</a:t>
                      </a:r>
                    </a:p>
                  </a:txBody>
                  <a:tcPr marL="82296" marR="82296" marT="27432" marB="27432" anchor="ctr">
                    <a:solidFill>
                      <a:srgbClr val="EDF2F9"/>
                    </a:solidFill>
                  </a:tcPr>
                </a:tc>
                <a:tc>
                  <a:txBody>
                    <a:bodyPr/>
                    <a:lstStyle/>
                    <a:p>
                      <a:pPr algn="l"/>
                      <a:r>
                        <a:rPr sz="1150" b="0">
                          <a:solidFill>
                            <a:srgbClr val="262626"/>
                          </a:solidFill>
                          <a:latin typeface="Calibri"/>
                        </a:rPr>
                        <a:t>Iberian</a:t>
                      </a:r>
                    </a:p>
                  </a:txBody>
                  <a:tcPr marL="82296" marR="82296" marT="27432" marB="27432" anchor="ctr">
                    <a:solidFill>
                      <a:srgbClr val="EDF2F9"/>
                    </a:solidFill>
                  </a:tcPr>
                </a:tc>
                <a:tc>
                  <a:txBody>
                    <a:bodyPr/>
                    <a:lstStyle/>
                    <a:p>
                      <a:pPr algn="r"/>
                      <a:r>
                        <a:rPr sz="1150" b="0">
                          <a:solidFill>
                            <a:srgbClr val="262626"/>
                          </a:solidFill>
                          <a:latin typeface="Calibri"/>
                        </a:rPr>
                        <a:t>13,275</a:t>
                      </a:r>
                    </a:p>
                  </a:txBody>
                  <a:tcPr marL="82296" marR="82296" marT="27432" marB="27432" anchor="ctr">
                    <a:solidFill>
                      <a:srgbClr val="EDF2F9"/>
                    </a:solidFill>
                  </a:tcPr>
                </a:tc>
              </a:tr>
              <a:tr h="265176">
                <a:tc>
                  <a:txBody>
                    <a:bodyPr/>
                    <a:lstStyle/>
                    <a:p>
                      <a:pPr algn="l"/>
                      <a:r>
                        <a:rPr sz="1150" b="0">
                          <a:solidFill>
                            <a:srgbClr val="262626"/>
                          </a:solidFill>
                          <a:latin typeface="Calibri"/>
                        </a:rPr>
                        <a:t>1524</a:t>
                      </a:r>
                    </a:p>
                  </a:txBody>
                  <a:tcPr marL="82296" marR="82296" marT="27432" marB="27432" anchor="ctr">
                    <a:solidFill>
                      <a:srgbClr val="DCE6F1"/>
                    </a:solidFill>
                  </a:tcPr>
                </a:tc>
                <a:tc>
                  <a:txBody>
                    <a:bodyPr/>
                    <a:lstStyle/>
                    <a:p>
                      <a:pPr algn="l"/>
                      <a:r>
                        <a:rPr sz="1150" b="0">
                          <a:solidFill>
                            <a:srgbClr val="262626"/>
                          </a:solidFill>
                          <a:latin typeface="Calibri"/>
                        </a:rPr>
                        <a:t>Finnish / Baltic</a:t>
                      </a:r>
                    </a:p>
                  </a:txBody>
                  <a:tcPr marL="82296" marR="82296" marT="27432" marB="27432" anchor="ctr">
                    <a:solidFill>
                      <a:srgbClr val="DCE6F1"/>
                    </a:solidFill>
                  </a:tcPr>
                </a:tc>
                <a:tc>
                  <a:txBody>
                    <a:bodyPr/>
                    <a:lstStyle/>
                    <a:p>
                      <a:pPr algn="r"/>
                      <a:r>
                        <a:rPr sz="1150" b="0">
                          <a:solidFill>
                            <a:srgbClr val="262626"/>
                          </a:solidFill>
                          <a:latin typeface="Calibri"/>
                        </a:rPr>
                        <a:t>2,813</a:t>
                      </a:r>
                    </a:p>
                  </a:txBody>
                  <a:tcPr marL="82296" marR="82296" marT="27432" marB="27432" anchor="ctr">
                    <a:solidFill>
                      <a:srgbClr val="DCE6F1"/>
                    </a:solidFill>
                  </a:tcPr>
                </a:tc>
              </a:tr>
              <a:tr h="265176">
                <a:tc>
                  <a:txBody>
                    <a:bodyPr/>
                    <a:lstStyle/>
                    <a:p>
                      <a:pPr algn="l"/>
                      <a:r>
                        <a:rPr sz="1150" b="0">
                          <a:solidFill>
                            <a:srgbClr val="262626"/>
                          </a:solidFill>
                          <a:latin typeface="Calibri"/>
                        </a:rPr>
                        <a:t>1600</a:t>
                      </a:r>
                    </a:p>
                  </a:txBody>
                  <a:tcPr marL="82296" marR="82296" marT="27432" marB="27432" anchor="ctr">
                    <a:solidFill>
                      <a:srgbClr val="EDF2F9"/>
                    </a:solidFill>
                  </a:tcPr>
                </a:tc>
                <a:tc>
                  <a:txBody>
                    <a:bodyPr/>
                    <a:lstStyle/>
                    <a:p>
                      <a:pPr algn="l"/>
                      <a:r>
                        <a:rPr sz="1150" b="0">
                          <a:solidFill>
                            <a:srgbClr val="262626"/>
                          </a:solidFill>
                          <a:latin typeface="Calibri"/>
                        </a:rPr>
                        <a:t>Irish</a:t>
                      </a:r>
                    </a:p>
                  </a:txBody>
                  <a:tcPr marL="82296" marR="82296" marT="27432" marB="27432" anchor="ctr">
                    <a:solidFill>
                      <a:srgbClr val="EDF2F9"/>
                    </a:solidFill>
                  </a:tcPr>
                </a:tc>
                <a:tc>
                  <a:txBody>
                    <a:bodyPr/>
                    <a:lstStyle/>
                    <a:p>
                      <a:pPr algn="r"/>
                      <a:r>
                        <a:rPr sz="1150" b="0">
                          <a:solidFill>
                            <a:srgbClr val="262626"/>
                          </a:solidFill>
                          <a:latin typeface="Calibri"/>
                        </a:rPr>
                        <a:t>274</a:t>
                      </a:r>
                    </a:p>
                  </a:txBody>
                  <a:tcPr marL="82296" marR="82296" marT="27432" marB="27432" anchor="ctr">
                    <a:solidFill>
                      <a:srgbClr val="EDF2F9"/>
                    </a:solidFill>
                  </a:tcPr>
                </a:tc>
              </a:tr>
            </a:tbl>
          </a:graphicData>
        </a:graphic>
      </p:graphicFrame>
      <p:sp>
        <p:nvSpPr>
          <p:cNvPr id="13" name="Rectangle 12"/>
          <p:cNvSpPr/>
          <p:nvPr/>
        </p:nvSpPr>
        <p:spPr>
          <a:xfrm>
            <a:off x="6263640" y="4041648"/>
            <a:ext cx="5349240" cy="960120"/>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4041648"/>
            <a:ext cx="45720" cy="960120"/>
          </a:xfrm>
          <a:prstGeom prst="rect">
            <a:avLst/>
          </a:prstGeom>
          <a:solidFill>
            <a:srgbClr val="2E4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8" y="4169664"/>
            <a:ext cx="4965192" cy="777240"/>
          </a:xfrm>
          <a:prstGeom prst="rect">
            <a:avLst/>
          </a:prstGeom>
          <a:noFill/>
        </p:spPr>
        <p:txBody>
          <a:bodyPr wrap="square" lIns="0" rIns="0" tIns="0" bIns="0">
            <a:spAutoFit/>
          </a:bodyPr>
          <a:lstStyle/>
          <a:p>
            <a:pPr algn="l">
              <a:lnSpc>
                <a:spcPct val="122000"/>
              </a:lnSpc>
              <a:spcAft>
                <a:spcPts val="600"/>
              </a:spcAft>
            </a:pPr>
            <a:r>
              <a:rPr sz="1350" b="1" i="0">
                <a:solidFill>
                  <a:srgbClr val="2E4372"/>
                </a:solidFill>
                <a:latin typeface="Calibri"/>
              </a:rPr>
              <a:t>Route compatibility spans three registers</a:t>
            </a:r>
            <a:r>
              <a:rPr sz="1350" b="0" i="0">
                <a:solidFill>
                  <a:srgbClr val="262626"/>
                </a:solidFill>
                <a:latin typeface="Calibri"/>
              </a:rPr>
              <a:t> — the vehicle in EVR, its type in ERATV, the line in RINF. One vocabulary makes it a query, not an integration project.</a:t>
            </a:r>
          </a:p>
        </p:txBody>
      </p:sp>
      <p:sp>
        <p:nvSpPr>
          <p:cNvPr id="16" name="Rectangle 15"/>
          <p:cNvSpPr/>
          <p:nvPr/>
        </p:nvSpPr>
        <p:spPr>
          <a:xfrm>
            <a:off x="6263640" y="5102352"/>
            <a:ext cx="5349240" cy="960120"/>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5102352"/>
            <a:ext cx="45720" cy="960120"/>
          </a:xfrm>
          <a:prstGeom prst="rect">
            <a:avLst/>
          </a:prstGeom>
          <a:solidFill>
            <a:srgbClr val="255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8" y="5230368"/>
            <a:ext cx="4965192" cy="777240"/>
          </a:xfrm>
          <a:prstGeom prst="rect">
            <a:avLst/>
          </a:prstGeom>
          <a:noFill/>
        </p:spPr>
        <p:txBody>
          <a:bodyPr wrap="square" lIns="0" rIns="0" tIns="0" bIns="0">
            <a:spAutoFit/>
          </a:bodyPr>
          <a:lstStyle/>
          <a:p>
            <a:pPr algn="l">
              <a:lnSpc>
                <a:spcPct val="122000"/>
              </a:lnSpc>
              <a:spcAft>
                <a:spcPts val="600"/>
              </a:spcAft>
            </a:pPr>
            <a:r>
              <a:rPr sz="1350" b="1" i="0">
                <a:solidFill>
                  <a:srgbClr val="255C45"/>
                </a:solidFill>
                <a:latin typeface="Calibri"/>
              </a:rPr>
              <a:t>A shared identifier space is durable sovereignty</a:t>
            </a:r>
            <a:r>
              <a:rPr sz="1350" b="0" i="0">
                <a:solidFill>
                  <a:srgbClr val="262626"/>
                </a:solidFill>
                <a:latin typeface="Calibri"/>
              </a:rPr>
              <a:t> — custody stays national, open W3C/OGC standards, EUPL 1.2, archival DOI. It cannot be withdrawn by a supplier.</a:t>
            </a:r>
          </a:p>
        </p:txBody>
      </p:sp>
      <p:sp>
        <p:nvSpPr>
          <p:cNvPr id="19" name="TextBox 18"/>
          <p:cNvSpPr txBox="1"/>
          <p:nvPr/>
        </p:nvSpPr>
        <p:spPr>
          <a:xfrm>
            <a:off x="566928" y="6382512"/>
            <a:ext cx="8686800" cy="274320"/>
          </a:xfrm>
          <a:prstGeom prst="rect">
            <a:avLst/>
          </a:prstGeom>
          <a:noFill/>
        </p:spPr>
        <p:txBody>
          <a:bodyPr wrap="square" lIns="0" rIns="0" tIns="0" bIns="0">
            <a:spAutoFit/>
          </a:bodyPr>
          <a:lstStyle/>
          <a:p>
            <a:pPr algn="l">
              <a:lnSpc>
                <a:spcPct val="125000"/>
              </a:lnSpc>
              <a:spcAft>
                <a:spcPts val="600"/>
              </a:spcAft>
            </a:pPr>
            <a:r>
              <a:rPr sz="950" b="0" i="0">
                <a:solidFill>
                  <a:srgbClr val="8A93A6"/>
                </a:solidFill>
                <a:latin typeface="Calibri"/>
              </a:rPr>
              <a:t>era-lex holds 7,317 legal acts and 7,198 addressable subdivisions, in 24 languages</a:t>
            </a:r>
          </a:p>
        </p:txBody>
      </p:sp>
      <p:sp>
        <p:nvSpPr>
          <p:cNvPr id="20" name="TextBox 19"/>
          <p:cNvSpPr txBox="1"/>
          <p:nvPr/>
        </p:nvSpPr>
        <p:spPr>
          <a:xfrm>
            <a:off x="10972800" y="6382512"/>
            <a:ext cx="640080" cy="274320"/>
          </a:xfrm>
          <a:prstGeom prst="rect">
            <a:avLst/>
          </a:prstGeom>
          <a:noFill/>
        </p:spPr>
        <p:txBody>
          <a:bodyPr wrap="square" lIns="0" rIns="0" tIns="0" bIns="0">
            <a:spAutoFit/>
          </a:bodyPr>
          <a:lstStyle/>
          <a:p>
            <a:pPr algn="r">
              <a:lnSpc>
                <a:spcPct val="125000"/>
              </a:lnSpc>
              <a:spcAft>
                <a:spcPts val="600"/>
              </a:spcAft>
            </a:pPr>
            <a:r>
              <a:rPr sz="950" b="0" i="0">
                <a:solidFill>
                  <a:srgbClr val="8A93A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84048"/>
            <a:ext cx="457200" cy="457200"/>
          </a:xfrm>
          <a:prstGeom prst="rect">
            <a:avLst/>
          </a:prstGeom>
          <a:solidFill>
            <a:srgbClr val="2F4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84632"/>
            <a:ext cx="457200" cy="365760"/>
          </a:xfrm>
          <a:prstGeom prst="rect">
            <a:avLst/>
          </a:prstGeom>
          <a:noFill/>
        </p:spPr>
        <p:txBody>
          <a:bodyPr wrap="square" lIns="0" rIns="0" tIns="0" bIns="0">
            <a:spAutoFit/>
          </a:bodyPr>
          <a:lstStyle/>
          <a:p>
            <a:pPr algn="ctr">
              <a:lnSpc>
                <a:spcPct val="125000"/>
              </a:lnSpc>
              <a:spcAft>
                <a:spcPts val="600"/>
              </a:spcAft>
            </a:pPr>
            <a:r>
              <a:rPr sz="1500" b="0" i="0">
                <a:solidFill>
                  <a:srgbClr val="FFFFFF"/>
                </a:solidFill>
                <a:latin typeface="Calibri"/>
              </a:rPr>
              <a:t>4</a:t>
            </a:r>
          </a:p>
        </p:txBody>
      </p:sp>
      <p:pic>
        <p:nvPicPr>
          <p:cNvPr id="4" name="Picture 3" descr="era-logo.png"/>
          <p:cNvPicPr>
            <a:picLocks noChangeAspect="1"/>
          </p:cNvPicPr>
          <p:nvPr/>
        </p:nvPicPr>
        <p:blipFill>
          <a:blip r:embed="rId2"/>
          <a:stretch>
            <a:fillRect/>
          </a:stretch>
        </p:blipFill>
        <p:spPr>
          <a:xfrm>
            <a:off x="1188720" y="329184"/>
            <a:ext cx="934720" cy="566928"/>
          </a:xfrm>
          <a:prstGeom prst="rect">
            <a:avLst/>
          </a:prstGeom>
        </p:spPr>
      </p:pic>
      <p:sp>
        <p:nvSpPr>
          <p:cNvPr id="5" name="TextBox 4"/>
          <p:cNvSpPr txBox="1"/>
          <p:nvPr/>
        </p:nvSpPr>
        <p:spPr>
          <a:xfrm>
            <a:off x="4937760" y="329184"/>
            <a:ext cx="6675120" cy="914400"/>
          </a:xfrm>
          <a:prstGeom prst="rect">
            <a:avLst/>
          </a:prstGeom>
          <a:noFill/>
        </p:spPr>
        <p:txBody>
          <a:bodyPr wrap="square" lIns="0" rIns="0" tIns="0" bIns="0">
            <a:spAutoFit/>
          </a:bodyPr>
          <a:lstStyle/>
          <a:p>
            <a:pPr algn="r">
              <a:lnSpc>
                <a:spcPct val="106000"/>
              </a:lnSpc>
              <a:spcAft>
                <a:spcPts val="600"/>
              </a:spcAft>
            </a:pPr>
            <a:r>
              <a:rPr sz="2700" b="0" i="0">
                <a:solidFill>
                  <a:srgbClr val="595959"/>
                </a:solidFill>
                <a:latin typeface="Calibri"/>
              </a:rPr>
              <a:t>Lessons learnt —
and what is not yet right</a:t>
            </a:r>
          </a:p>
        </p:txBody>
      </p:sp>
      <p:sp>
        <p:nvSpPr>
          <p:cNvPr id="6" name="TextBox 5"/>
          <p:cNvSpPr txBox="1"/>
          <p:nvPr/>
        </p:nvSpPr>
        <p:spPr>
          <a:xfrm>
            <a:off x="566928" y="1572768"/>
            <a:ext cx="11064240" cy="320040"/>
          </a:xfrm>
          <a:prstGeom prst="rect">
            <a:avLst/>
          </a:prstGeom>
          <a:noFill/>
        </p:spPr>
        <p:txBody>
          <a:bodyPr wrap="square" lIns="0" rIns="0" tIns="0" bIns="0">
            <a:spAutoFit/>
          </a:bodyPr>
          <a:lstStyle/>
          <a:p>
            <a:pPr algn="l">
              <a:lnSpc>
                <a:spcPct val="125000"/>
              </a:lnSpc>
              <a:spcAft>
                <a:spcPts val="600"/>
              </a:spcAft>
            </a:pPr>
            <a:r>
              <a:rPr sz="1550" b="1" i="0">
                <a:solidFill>
                  <a:srgbClr val="2E4372"/>
                </a:solidFill>
                <a:latin typeface="Calibri"/>
              </a:rPr>
              <a:t>A shared vocabulary does not by itself produce comparable data. Publication and convergence are different problems.</a:t>
            </a:r>
          </a:p>
        </p:txBody>
      </p:sp>
      <p:sp>
        <p:nvSpPr>
          <p:cNvPr id="7" name="Rectangle 6"/>
          <p:cNvSpPr/>
          <p:nvPr/>
        </p:nvSpPr>
        <p:spPr>
          <a:xfrm>
            <a:off x="566928" y="2029968"/>
            <a:ext cx="11064240" cy="676656"/>
          </a:xfrm>
          <a:prstGeom prst="rect">
            <a:avLst/>
          </a:prstGeom>
          <a:solidFill>
            <a:srgbClr val="FBF1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2029968"/>
            <a:ext cx="45720" cy="676656"/>
          </a:xfrm>
          <a:prstGeom prst="rect">
            <a:avLst/>
          </a:prstGeom>
          <a:solidFill>
            <a:srgbClr val="8A56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157984"/>
            <a:ext cx="10680192" cy="493776"/>
          </a:xfrm>
          <a:prstGeom prst="rect">
            <a:avLst/>
          </a:prstGeom>
          <a:noFill/>
        </p:spPr>
        <p:txBody>
          <a:bodyPr wrap="square" lIns="0" rIns="0" tIns="0" bIns="0">
            <a:spAutoFit/>
          </a:bodyPr>
          <a:lstStyle/>
          <a:p>
            <a:pPr algn="l">
              <a:lnSpc>
                <a:spcPct val="122000"/>
              </a:lnSpc>
              <a:spcAft>
                <a:spcPts val="600"/>
              </a:spcAft>
            </a:pPr>
            <a:r>
              <a:rPr sz="1350" b="1" i="0">
                <a:solidFill>
                  <a:srgbClr val="8A5610"/>
                </a:solidFill>
                <a:latin typeface="Calibri"/>
              </a:rPr>
              <a:t>Four defects, one failure mode: the silent, well-formed zero. </a:t>
            </a:r>
            <a:r>
              <a:rPr sz="1350" b="0" i="0">
                <a:solidFill>
                  <a:srgbClr val="262626"/>
                </a:solidFill>
                <a:latin typeface="Calibri"/>
              </a:rPr>
              <a:t>Nothing errors, nothing warns, and the wrong conclusion looks like a correct one.</a:t>
            </a:r>
          </a:p>
        </p:txBody>
      </p:sp>
      <p:graphicFrame>
        <p:nvGraphicFramePr>
          <p:cNvPr id="10" name="Table 9"/>
          <p:cNvGraphicFramePr>
            <a:graphicFrameLocks noGrp="1"/>
          </p:cNvGraphicFramePr>
          <p:nvPr/>
        </p:nvGraphicFramePr>
        <p:xfrm>
          <a:off x="566928" y="2788920"/>
          <a:ext cx="11064239" cy="1920240"/>
        </p:xfrm>
        <a:graphic>
          <a:graphicData uri="http://schemas.openxmlformats.org/drawingml/2006/table">
            <a:tbl>
              <a:tblPr firstRow="1" bandRow="1">
                <a:tableStyleId>{5C22544A-7EE6-4342-B048-85BDC9FD1C3A}</a:tableStyleId>
              </a:tblPr>
              <a:tblGrid>
                <a:gridCol w="4868265"/>
                <a:gridCol w="6195974"/>
              </a:tblGrid>
              <a:tr h="384048">
                <a:tc>
                  <a:txBody>
                    <a:bodyPr/>
                    <a:lstStyle/>
                    <a:p>
                      <a:pPr algn="l"/>
                      <a:r>
                        <a:rPr sz="1200" b="1">
                          <a:solidFill>
                            <a:srgbClr val="FFFFFF"/>
                          </a:solidFill>
                          <a:latin typeface="Calibri"/>
                        </a:rPr>
                        <a:t>What we found</a:t>
                      </a:r>
                    </a:p>
                  </a:txBody>
                  <a:tcPr marL="82296" marR="82296" marT="27432" marB="27432" anchor="ctr">
                    <a:solidFill>
                      <a:srgbClr val="2E4372"/>
                    </a:solidFill>
                  </a:tcPr>
                </a:tc>
                <a:tc>
                  <a:txBody>
                    <a:bodyPr/>
                    <a:lstStyle/>
                    <a:p>
                      <a:pPr algn="l"/>
                      <a:r>
                        <a:rPr sz="1200" b="1">
                          <a:solidFill>
                            <a:srgbClr val="FFFFFF"/>
                          </a:solidFill>
                          <a:latin typeface="Calibri"/>
                        </a:rPr>
                        <a:t>Why it matters</a:t>
                      </a:r>
                    </a:p>
                  </a:txBody>
                  <a:tcPr marL="82296" marR="82296" marT="27432" marB="27432" anchor="ctr">
                    <a:solidFill>
                      <a:srgbClr val="2E4372"/>
                    </a:solidFill>
                  </a:tcPr>
                </a:tc>
              </a:tr>
              <a:tr h="384048">
                <a:tc>
                  <a:txBody>
                    <a:bodyPr/>
                    <a:lstStyle/>
                    <a:p>
                      <a:pPr algn="l"/>
                      <a:r>
                        <a:rPr sz="1200" b="0">
                          <a:solidFill>
                            <a:srgbClr val="262626"/>
                          </a:solidFill>
                          <a:latin typeface="Calibri"/>
                        </a:rPr>
                        <a:t>8 concepts minted into a scheme the check validates against</a:t>
                      </a:r>
                    </a:p>
                  </a:txBody>
                  <a:tcPr marL="82296" marR="82296" marT="27432" marB="27432" anchor="ctr">
                    <a:solidFill>
                      <a:srgbClr val="DCE6F1"/>
                    </a:solidFill>
                  </a:tcPr>
                </a:tc>
                <a:tc>
                  <a:txBody>
                    <a:bodyPr/>
                    <a:lstStyle/>
                    <a:p>
                      <a:pPr algn="l"/>
                      <a:r>
                        <a:rPr sz="1200" b="0">
                          <a:solidFill>
                            <a:srgbClr val="262626"/>
                          </a:solidFill>
                          <a:latin typeface="Calibri"/>
                        </a:rPr>
                        <a:t>Conformance resolved from the working graph is self-certified</a:t>
                      </a:r>
                    </a:p>
                  </a:txBody>
                  <a:tcPr marL="82296" marR="82296" marT="27432" marB="27432" anchor="ctr">
                    <a:solidFill>
                      <a:srgbClr val="DCE6F1"/>
                    </a:solidFill>
                  </a:tcPr>
                </a:tc>
              </a:tr>
              <a:tr h="384048">
                <a:tc>
                  <a:txBody>
                    <a:bodyPr/>
                    <a:lstStyle/>
                    <a:p>
                      <a:pPr algn="l"/>
                      <a:r>
                        <a:rPr sz="1200" b="0">
                          <a:solidFill>
                            <a:srgbClr val="262626"/>
                          </a:solidFill>
                          <a:latin typeface="Calibri"/>
                        </a:rPr>
                        <a:t>17 retired properties still carrying 237,781 statements, in 9 countries</a:t>
                      </a:r>
                    </a:p>
                  </a:txBody>
                  <a:tcPr marL="82296" marR="82296" marT="27432" marB="27432" anchor="ctr">
                    <a:solidFill>
                      <a:srgbClr val="EDF2F9"/>
                    </a:solidFill>
                  </a:tcPr>
                </a:tc>
                <a:tc>
                  <a:txBody>
                    <a:bodyPr/>
                    <a:lstStyle/>
                    <a:p>
                      <a:pPr algn="l"/>
                      <a:r>
                        <a:rPr sz="1200" b="0">
                          <a:solidFill>
                            <a:srgbClr val="262626"/>
                          </a:solidFill>
                          <a:latin typeface="Calibri"/>
                        </a:rPr>
                        <a:t>Only 1 declares a successor; now excluded from the tools, but still reported</a:t>
                      </a:r>
                    </a:p>
                  </a:txBody>
                  <a:tcPr marL="82296" marR="82296" marT="27432" marB="27432" anchor="ctr">
                    <a:solidFill>
                      <a:srgbClr val="EDF2F9"/>
                    </a:solidFill>
                  </a:tcPr>
                </a:tc>
              </a:tr>
              <a:tr h="384048">
                <a:tc>
                  <a:txBody>
                    <a:bodyPr/>
                    <a:lstStyle/>
                    <a:p>
                      <a:pPr algn="l"/>
                      <a:r>
                        <a:rPr sz="1200" b="0">
                          <a:solidFill>
                            <a:srgbClr val="262626"/>
                          </a:solidFill>
                          <a:latin typeface="Calibri"/>
                        </a:rPr>
                        <a:t>87 of 180 organisation URIs do not resolve</a:t>
                      </a:r>
                    </a:p>
                  </a:txBody>
                  <a:tcPr marL="82296" marR="82296" marT="27432" marB="27432" anchor="ctr">
                    <a:solidFill>
                      <a:srgbClr val="DCE6F1"/>
                    </a:solidFill>
                  </a:tcPr>
                </a:tc>
                <a:tc>
                  <a:txBody>
                    <a:bodyPr/>
                    <a:lstStyle/>
                    <a:p>
                      <a:pPr algn="l"/>
                      <a:r>
                        <a:rPr sz="1200" b="0">
                          <a:solidFill>
                            <a:srgbClr val="262626"/>
                          </a:solidFill>
                          <a:latin typeface="Calibri"/>
                        </a:rPr>
                        <a:t>Belgium’s IM is 0088 in RINF, 1976 in the register</a:t>
                      </a:r>
                    </a:p>
                  </a:txBody>
                  <a:tcPr marL="82296" marR="82296" marT="27432" marB="27432" anchor="ctr">
                    <a:solidFill>
                      <a:srgbClr val="DCE6F1"/>
                    </a:solidFill>
                  </a:tcPr>
                </a:tc>
              </a:tr>
              <a:tr h="384048">
                <a:tc>
                  <a:txBody>
                    <a:bodyPr/>
                    <a:lstStyle/>
                    <a:p>
                      <a:pPr algn="l"/>
                      <a:r>
                        <a:rPr sz="1200" b="0">
                          <a:solidFill>
                            <a:srgbClr val="262626"/>
                          </a:solidFill>
                          <a:latin typeface="Calibri"/>
                        </a:rPr>
                        <a:t>Notebook queries name graphs that are empty in the deployment</a:t>
                      </a:r>
                    </a:p>
                  </a:txBody>
                  <a:tcPr marL="82296" marR="82296" marT="27432" marB="27432" anchor="ctr">
                    <a:solidFill>
                      <a:srgbClr val="EDF2F9"/>
                    </a:solidFill>
                  </a:tcPr>
                </a:tc>
                <a:tc>
                  <a:txBody>
                    <a:bodyPr/>
                    <a:lstStyle/>
                    <a:p>
                      <a:pPr algn="l"/>
                      <a:r>
                        <a:rPr sz="1200" b="0">
                          <a:solidFill>
                            <a:srgbClr val="262626"/>
                          </a:solidFill>
                          <a:latin typeface="Calibri"/>
                        </a:rPr>
                        <a:t>Run as published, they return HTTP 200 and no rows</a:t>
                      </a:r>
                    </a:p>
                  </a:txBody>
                  <a:tcPr marL="82296" marR="82296" marT="27432" marB="27432" anchor="ctr">
                    <a:solidFill>
                      <a:srgbClr val="EDF2F9"/>
                    </a:solidFill>
                  </a:tcPr>
                </a:tc>
              </a:tr>
            </a:tbl>
          </a:graphicData>
        </a:graphic>
      </p:graphicFrame>
      <p:sp>
        <p:nvSpPr>
          <p:cNvPr id="11" name="TextBox 10"/>
          <p:cNvSpPr txBox="1"/>
          <p:nvPr/>
        </p:nvSpPr>
        <p:spPr>
          <a:xfrm>
            <a:off x="566928" y="4956048"/>
            <a:ext cx="11064240" cy="914400"/>
          </a:xfrm>
          <a:prstGeom prst="rect">
            <a:avLst/>
          </a:prstGeom>
          <a:noFill/>
        </p:spPr>
        <p:txBody>
          <a:bodyPr wrap="square" lIns="0" rIns="0" tIns="0" bIns="0">
            <a:spAutoFit/>
          </a:bodyPr>
          <a:lstStyle/>
          <a:p>
            <a:pPr algn="l">
              <a:lnSpc>
                <a:spcPct val="130000"/>
              </a:lnSpc>
              <a:spcAft>
                <a:spcPts val="600"/>
              </a:spcAft>
            </a:pPr>
            <a:r>
              <a:rPr sz="1350" b="1" i="0">
                <a:solidFill>
                  <a:srgbClr val="2E4372"/>
                </a:solidFill>
                <a:latin typeface="Calibri"/>
              </a:rPr>
              <a:t>Transferable rules. </a:t>
            </a:r>
            <a:r>
              <a:rPr sz="1350" b="0" i="0">
                <a:solidFill>
                  <a:srgbClr val="5B6577"/>
                </a:solidFill>
                <a:latin typeface="Calibri"/>
              </a:rPr>
              <a:t>Resolve a value set from a trusted, published artefact — never from the same graph the data under test can write into. Validate the vocabulary, not only the data. Stand up the identifier register before the datasets that cite it, and treat deprecation as a data migration rather than an annotation.</a:t>
            </a:r>
          </a:p>
        </p:txBody>
      </p:sp>
      <p:sp>
        <p:nvSpPr>
          <p:cNvPr id="12" name="TextBox 11"/>
          <p:cNvSpPr txBox="1"/>
          <p:nvPr/>
        </p:nvSpPr>
        <p:spPr>
          <a:xfrm>
            <a:off x="566928" y="6382512"/>
            <a:ext cx="8686800" cy="274320"/>
          </a:xfrm>
          <a:prstGeom prst="rect">
            <a:avLst/>
          </a:prstGeom>
          <a:noFill/>
        </p:spPr>
        <p:txBody>
          <a:bodyPr wrap="square" lIns="0" rIns="0" tIns="0" bIns="0">
            <a:spAutoFit/>
          </a:bodyPr>
          <a:lstStyle/>
          <a:p>
            <a:pPr algn="l">
              <a:lnSpc>
                <a:spcPct val="125000"/>
              </a:lnSpc>
              <a:spcAft>
                <a:spcPts val="600"/>
              </a:spcAft>
            </a:pPr>
            <a:r>
              <a:rPr sz="950" b="0" i="0">
                <a:solidFill>
                  <a:srgbClr val="8A93A6"/>
                </a:solidFill>
                <a:latin typeface="Calibri"/>
              </a:rPr>
              <a:t>Stated deliberately: an assessment is worth more when it is honest</a:t>
            </a:r>
          </a:p>
        </p:txBody>
      </p:sp>
      <p:sp>
        <p:nvSpPr>
          <p:cNvPr id="13" name="TextBox 12"/>
          <p:cNvSpPr txBox="1"/>
          <p:nvPr/>
        </p:nvSpPr>
        <p:spPr>
          <a:xfrm>
            <a:off x="10972800" y="6382512"/>
            <a:ext cx="640080" cy="274320"/>
          </a:xfrm>
          <a:prstGeom prst="rect">
            <a:avLst/>
          </a:prstGeom>
          <a:noFill/>
        </p:spPr>
        <p:txBody>
          <a:bodyPr wrap="square" lIns="0" rIns="0" tIns="0" bIns="0">
            <a:spAutoFit/>
          </a:bodyPr>
          <a:lstStyle/>
          <a:p>
            <a:pPr algn="r">
              <a:lnSpc>
                <a:spcPct val="125000"/>
              </a:lnSpc>
              <a:spcAft>
                <a:spcPts val="600"/>
              </a:spcAft>
            </a:pPr>
            <a:r>
              <a:rPr sz="950" b="0" i="0">
                <a:solidFill>
                  <a:srgbClr val="8A93A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84048"/>
            <a:ext cx="457200" cy="457200"/>
          </a:xfrm>
          <a:prstGeom prst="rect">
            <a:avLst/>
          </a:prstGeom>
          <a:solidFill>
            <a:srgbClr val="2F4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84632"/>
            <a:ext cx="457200" cy="365760"/>
          </a:xfrm>
          <a:prstGeom prst="rect">
            <a:avLst/>
          </a:prstGeom>
          <a:noFill/>
        </p:spPr>
        <p:txBody>
          <a:bodyPr wrap="square" lIns="0" rIns="0" tIns="0" bIns="0">
            <a:spAutoFit/>
          </a:bodyPr>
          <a:lstStyle/>
          <a:p>
            <a:pPr algn="ctr">
              <a:lnSpc>
                <a:spcPct val="125000"/>
              </a:lnSpc>
              <a:spcAft>
                <a:spcPts val="600"/>
              </a:spcAft>
            </a:pPr>
            <a:r>
              <a:rPr sz="1500" b="0" i="0">
                <a:solidFill>
                  <a:srgbClr val="FFFFFF"/>
                </a:solidFill>
                <a:latin typeface="Calibri"/>
              </a:rPr>
              <a:t>5</a:t>
            </a:r>
          </a:p>
        </p:txBody>
      </p:sp>
      <p:pic>
        <p:nvPicPr>
          <p:cNvPr id="4" name="Picture 3" descr="era-logo.png"/>
          <p:cNvPicPr>
            <a:picLocks noChangeAspect="1"/>
          </p:cNvPicPr>
          <p:nvPr/>
        </p:nvPicPr>
        <p:blipFill>
          <a:blip r:embed="rId2"/>
          <a:stretch>
            <a:fillRect/>
          </a:stretch>
        </p:blipFill>
        <p:spPr>
          <a:xfrm>
            <a:off x="1188720" y="329184"/>
            <a:ext cx="934720" cy="566928"/>
          </a:xfrm>
          <a:prstGeom prst="rect">
            <a:avLst/>
          </a:prstGeom>
        </p:spPr>
      </p:pic>
      <p:sp>
        <p:nvSpPr>
          <p:cNvPr id="5" name="TextBox 4"/>
          <p:cNvSpPr txBox="1"/>
          <p:nvPr/>
        </p:nvSpPr>
        <p:spPr>
          <a:xfrm>
            <a:off x="4937760" y="329184"/>
            <a:ext cx="6675120" cy="914400"/>
          </a:xfrm>
          <a:prstGeom prst="rect">
            <a:avLst/>
          </a:prstGeom>
          <a:noFill/>
        </p:spPr>
        <p:txBody>
          <a:bodyPr wrap="square" lIns="0" rIns="0" tIns="0" bIns="0">
            <a:spAutoFit/>
          </a:bodyPr>
          <a:lstStyle/>
          <a:p>
            <a:pPr algn="r">
              <a:lnSpc>
                <a:spcPct val="106000"/>
              </a:lnSpc>
              <a:spcAft>
                <a:spcPts val="600"/>
              </a:spcAft>
            </a:pPr>
            <a:r>
              <a:rPr sz="2700" b="0" i="0">
                <a:solidFill>
                  <a:srgbClr val="595959"/>
                </a:solidFill>
                <a:latin typeface="Calibri"/>
              </a:rPr>
              <a:t>How to start reusing —
and where everything lives</a:t>
            </a:r>
          </a:p>
        </p:txBody>
      </p:sp>
      <p:sp>
        <p:nvSpPr>
          <p:cNvPr id="6" name="TextBox 5"/>
          <p:cNvSpPr txBox="1"/>
          <p:nvPr/>
        </p:nvSpPr>
        <p:spPr>
          <a:xfrm>
            <a:off x="566928" y="1572768"/>
            <a:ext cx="5394960" cy="274320"/>
          </a:xfrm>
          <a:prstGeom prst="rect">
            <a:avLst/>
          </a:prstGeom>
          <a:noFill/>
        </p:spPr>
        <p:txBody>
          <a:bodyPr wrap="square" lIns="0" rIns="0" tIns="0" bIns="0">
            <a:spAutoFit/>
          </a:bodyPr>
          <a:lstStyle/>
          <a:p>
            <a:pPr algn="l">
              <a:lnSpc>
                <a:spcPct val="125000"/>
              </a:lnSpc>
              <a:spcAft>
                <a:spcPts val="600"/>
              </a:spcAft>
            </a:pPr>
            <a:r>
              <a:rPr sz="1350" b="1" i="0">
                <a:solidFill>
                  <a:srgbClr val="2E4372"/>
                </a:solidFill>
                <a:latin typeface="Calibri"/>
              </a:rPr>
              <a:t>Governance</a:t>
            </a:r>
          </a:p>
        </p:txBody>
      </p:sp>
      <p:sp>
        <p:nvSpPr>
          <p:cNvPr id="7" name="TextBox 6"/>
          <p:cNvSpPr txBox="1"/>
          <p:nvPr/>
        </p:nvSpPr>
        <p:spPr>
          <a:xfrm>
            <a:off x="566928" y="1901952"/>
            <a:ext cx="5394960" cy="1874519"/>
          </a:xfrm>
          <a:prstGeom prst="rect">
            <a:avLst/>
          </a:prstGeom>
          <a:noFill/>
        </p:spPr>
        <p:txBody>
          <a:bodyPr wrap="square" lIns="0" rIns="0" tIns="0" bIns="0">
            <a:spAutoFit/>
          </a:bodyPr>
          <a:lstStyle/>
          <a:p>
            <a:pPr algn="l">
              <a:lnSpc>
                <a:spcPct val="124000"/>
              </a:lnSpc>
              <a:spcAft>
                <a:spcPts val="400"/>
              </a:spcAft>
            </a:pPr>
            <a:r>
              <a:rPr sz="1250" b="0" i="0">
                <a:solidFill>
                  <a:srgbClr val="262626"/>
                </a:solidFill>
                <a:latin typeface="Calibri"/>
              </a:rPr>
              <a:t>The vocabulary needs central governance. The deployment does not.</a:t>
            </a:r>
          </a:p>
          <a:p>
            <a:pPr algn="l">
              <a:lnSpc>
                <a:spcPct val="124000"/>
              </a:lnSpc>
              <a:spcAft>
                <a:spcPts val="400"/>
              </a:spcAft>
            </a:pPr>
            <a:r>
              <a:rPr sz="1250" b="0" i="0">
                <a:solidFill>
                  <a:srgbClr val="262626"/>
                </a:solidFill>
                <a:latin typeface="Calibri"/>
              </a:rPr>
              <a:t>•  Central, non-negotiable: one owner, one version line, one licence — otherwise 27 dialects</a:t>
            </a:r>
          </a:p>
          <a:p>
            <a:pPr algn="l">
              <a:lnSpc>
                <a:spcPct val="124000"/>
              </a:lnSpc>
              <a:spcAft>
                <a:spcPts val="400"/>
              </a:spcAft>
            </a:pPr>
            <a:r>
              <a:rPr sz="1250" b="0" i="0">
                <a:solidFill>
                  <a:srgbClr val="262626"/>
                </a:solidFill>
                <a:latin typeface="Calibri"/>
              </a:rPr>
              <a:t>•  Decentralised, valuable at once: Bane NOR (Norway) gains value publishing alone, outside the EU mandate</a:t>
            </a:r>
          </a:p>
          <a:p>
            <a:pPr algn="l">
              <a:lnSpc>
                <a:spcPct val="124000"/>
              </a:lnSpc>
              <a:spcAft>
                <a:spcPts val="400"/>
              </a:spcAft>
            </a:pPr>
            <a:r>
              <a:rPr sz="1250" b="0" i="0">
                <a:solidFill>
                  <a:srgbClr val="262626"/>
                </a:solidFill>
                <a:latin typeface="Calibri"/>
              </a:rPr>
              <a:t>•  Every level: Italy has 9 publishing organisations, Austria 8, Belgium 1</a:t>
            </a:r>
          </a:p>
        </p:txBody>
      </p:sp>
      <p:sp>
        <p:nvSpPr>
          <p:cNvPr id="8" name="TextBox 7"/>
          <p:cNvSpPr txBox="1"/>
          <p:nvPr/>
        </p:nvSpPr>
        <p:spPr>
          <a:xfrm>
            <a:off x="6263640" y="1572768"/>
            <a:ext cx="5349240" cy="274320"/>
          </a:xfrm>
          <a:prstGeom prst="rect">
            <a:avLst/>
          </a:prstGeom>
          <a:noFill/>
        </p:spPr>
        <p:txBody>
          <a:bodyPr wrap="square" lIns="0" rIns="0" tIns="0" bIns="0">
            <a:spAutoFit/>
          </a:bodyPr>
          <a:lstStyle/>
          <a:p>
            <a:pPr algn="l">
              <a:lnSpc>
                <a:spcPct val="125000"/>
              </a:lnSpc>
              <a:spcAft>
                <a:spcPts val="600"/>
              </a:spcAft>
            </a:pPr>
            <a:r>
              <a:rPr sz="1350" b="1" i="0">
                <a:solidFill>
                  <a:srgbClr val="2E4372"/>
                </a:solidFill>
                <a:latin typeface="Calibri"/>
              </a:rPr>
              <a:t>First steps</a:t>
            </a:r>
          </a:p>
        </p:txBody>
      </p:sp>
      <p:sp>
        <p:nvSpPr>
          <p:cNvPr id="9" name="TextBox 8"/>
          <p:cNvSpPr txBox="1"/>
          <p:nvPr/>
        </p:nvSpPr>
        <p:spPr>
          <a:xfrm>
            <a:off x="6263640" y="1901952"/>
            <a:ext cx="5349240" cy="1874519"/>
          </a:xfrm>
          <a:prstGeom prst="rect">
            <a:avLst/>
          </a:prstGeom>
          <a:noFill/>
        </p:spPr>
        <p:txBody>
          <a:bodyPr wrap="square" lIns="0" rIns="0" tIns="0" bIns="0">
            <a:spAutoFit/>
          </a:bodyPr>
          <a:lstStyle/>
          <a:p>
            <a:pPr algn="l">
              <a:lnSpc>
                <a:spcPct val="124000"/>
              </a:lnSpc>
              <a:spcAft>
                <a:spcPts val="400"/>
              </a:spcAft>
            </a:pPr>
            <a:r>
              <a:rPr sz="1250" b="0" i="0">
                <a:solidFill>
                  <a:srgbClr val="262626"/>
                </a:solidFill>
                <a:latin typeface="Calibri"/>
              </a:rPr>
              <a:t>1.  Run the published queries — 38 in the Data Stories catalogue plus 47 across three notebooks</a:t>
            </a:r>
          </a:p>
          <a:p>
            <a:pPr algn="l">
              <a:lnSpc>
                <a:spcPct val="124000"/>
              </a:lnSpc>
              <a:spcAft>
                <a:spcPts val="400"/>
              </a:spcAft>
            </a:pPr>
            <a:r>
              <a:rPr sz="1250" b="0" i="0">
                <a:solidFill>
                  <a:srgbClr val="262626"/>
                </a:solidFill>
                <a:latin typeface="Calibri"/>
              </a:rPr>
              <a:t>2.  Adopt the identifiers before modelling anything</a:t>
            </a:r>
          </a:p>
          <a:p>
            <a:pPr algn="l">
              <a:lnSpc>
                <a:spcPct val="124000"/>
              </a:lnSpc>
              <a:spcAft>
                <a:spcPts val="400"/>
              </a:spcAft>
            </a:pPr>
            <a:r>
              <a:rPr sz="1250" b="0" i="0">
                <a:solidFill>
                  <a:srgbClr val="262626"/>
                </a:solidFill>
                <a:latin typeface="Calibri"/>
              </a:rPr>
              <a:t>3.  Adopt the code lists — where most comparability is won</a:t>
            </a:r>
          </a:p>
          <a:p>
            <a:pPr algn="l">
              <a:lnSpc>
                <a:spcPct val="124000"/>
              </a:lnSpc>
              <a:spcAft>
                <a:spcPts val="400"/>
              </a:spcAft>
            </a:pPr>
            <a:r>
              <a:rPr sz="1250" b="0" i="0">
                <a:solidFill>
                  <a:srgbClr val="262626"/>
                </a:solidFill>
                <a:latin typeface="Calibri"/>
              </a:rPr>
              <a:t>4.  Validate early with the shipped SHACL shapes; check every external URI resolves</a:t>
            </a:r>
          </a:p>
          <a:p>
            <a:pPr algn="l">
              <a:lnSpc>
                <a:spcPct val="124000"/>
              </a:lnSpc>
              <a:spcAft>
                <a:spcPts val="400"/>
              </a:spcAft>
            </a:pPr>
            <a:r>
              <a:rPr sz="1250" b="0" i="0">
                <a:solidFill>
                  <a:srgbClr val="262626"/>
                </a:solidFill>
                <a:latin typeface="Calibri"/>
              </a:rPr>
              <a:t>5.  Publish into your own dataset, keeping custody</a:t>
            </a:r>
          </a:p>
        </p:txBody>
      </p:sp>
      <p:sp>
        <p:nvSpPr>
          <p:cNvPr id="10" name="TextBox 9"/>
          <p:cNvSpPr txBox="1"/>
          <p:nvPr/>
        </p:nvSpPr>
        <p:spPr>
          <a:xfrm>
            <a:off x="566928" y="3950208"/>
            <a:ext cx="11064240" cy="274320"/>
          </a:xfrm>
          <a:prstGeom prst="rect">
            <a:avLst/>
          </a:prstGeom>
          <a:noFill/>
        </p:spPr>
        <p:txBody>
          <a:bodyPr wrap="square" lIns="0" rIns="0" tIns="0" bIns="0">
            <a:spAutoFit/>
          </a:bodyPr>
          <a:lstStyle/>
          <a:p>
            <a:pPr algn="l">
              <a:lnSpc>
                <a:spcPct val="125000"/>
              </a:lnSpc>
              <a:spcAft>
                <a:spcPts val="600"/>
              </a:spcAft>
            </a:pPr>
            <a:r>
              <a:rPr sz="1350" b="1" i="0">
                <a:solidFill>
                  <a:srgbClr val="2E4372"/>
                </a:solidFill>
                <a:latin typeface="Calibri"/>
              </a:rPr>
              <a:t>References</a:t>
            </a:r>
          </a:p>
        </p:txBody>
      </p:sp>
      <p:sp>
        <p:nvSpPr>
          <p:cNvPr id="11" name="TextBox 10"/>
          <p:cNvSpPr txBox="1"/>
          <p:nvPr/>
        </p:nvSpPr>
        <p:spPr>
          <a:xfrm>
            <a:off x="566928" y="4261104"/>
            <a:ext cx="5486400" cy="2011680"/>
          </a:xfrm>
          <a:prstGeom prst="rect">
            <a:avLst/>
          </a:prstGeom>
          <a:noFill/>
        </p:spPr>
        <p:txBody>
          <a:bodyPr wrap="square" lIns="0" rIns="0" tIns="0" bIns="0">
            <a:spAutoFit/>
          </a:bodyPr>
          <a:lstStyle/>
          <a:p>
            <a:pPr algn="l">
              <a:lnSpc>
                <a:spcPct val="130000"/>
              </a:lnSpc>
              <a:spcAft>
                <a:spcPts val="400"/>
              </a:spcAft>
            </a:pPr>
            <a:r>
              <a:rPr sz="1150" b="0" i="0">
                <a:solidFill>
                  <a:srgbClr val="262626"/>
                </a:solidFill>
                <a:latin typeface="Calibri"/>
              </a:rPr>
              <a:t>ERA Ontology v3.3.4 — rinf.data.era.europa.eu/era-vocabulary</a:t>
            </a:r>
          </a:p>
          <a:p>
            <a:pPr algn="l">
              <a:lnSpc>
                <a:spcPct val="130000"/>
              </a:lnSpc>
              <a:spcAft>
                <a:spcPts val="400"/>
              </a:spcAft>
            </a:pPr>
            <a:r>
              <a:rPr sz="1150" b="0" i="0">
                <a:solidFill>
                  <a:srgbClr val="262626"/>
                </a:solidFill>
                <a:latin typeface="Calibri"/>
              </a:rPr>
              <a:t>Application guides — RINF, ERATV, EVR, ERADIS (same host)</a:t>
            </a:r>
          </a:p>
          <a:p>
            <a:pPr algn="l">
              <a:lnSpc>
                <a:spcPct val="130000"/>
              </a:lnSpc>
              <a:spcAft>
                <a:spcPts val="400"/>
              </a:spcAft>
            </a:pPr>
            <a:r>
              <a:rPr sz="1150" b="0" i="0">
                <a:solidFill>
                  <a:srgbClr val="262626"/>
                </a:solidFill>
                <a:latin typeface="Calibri"/>
              </a:rPr>
              <a:t>Published artefacts — era-shapes, era-skos, era-telem-skos, ontology.nt</a:t>
            </a:r>
          </a:p>
          <a:p>
            <a:pPr algn="l">
              <a:lnSpc>
                <a:spcPct val="130000"/>
              </a:lnSpc>
              <a:spcAft>
                <a:spcPts val="400"/>
              </a:spcAft>
            </a:pPr>
            <a:r>
              <a:rPr sz="1150" b="0" i="0">
                <a:solidFill>
                  <a:srgbClr val="262626"/>
                </a:solidFill>
                <a:latin typeface="Calibri"/>
              </a:rPr>
              <a:t>Live knowledge graph — graph.data.era.europa.eu</a:t>
            </a:r>
          </a:p>
          <a:p>
            <a:pPr algn="l">
              <a:lnSpc>
                <a:spcPct val="130000"/>
              </a:lnSpc>
              <a:spcAft>
                <a:spcPts val="400"/>
              </a:spcAft>
            </a:pPr>
            <a:r>
              <a:rPr sz="1150" b="0" i="0">
                <a:solidFill>
                  <a:srgbClr val="262626"/>
                </a:solidFill>
                <a:latin typeface="Calibri"/>
              </a:rPr>
              <a:t>Data Stories, 38 queries + 3 notebooks — rinf.data.era.europa.eu/data-stories</a:t>
            </a:r>
          </a:p>
        </p:txBody>
      </p:sp>
      <p:sp>
        <p:nvSpPr>
          <p:cNvPr id="12" name="TextBox 11"/>
          <p:cNvSpPr txBox="1"/>
          <p:nvPr/>
        </p:nvSpPr>
        <p:spPr>
          <a:xfrm>
            <a:off x="6263640" y="4261104"/>
            <a:ext cx="5349240" cy="2011680"/>
          </a:xfrm>
          <a:prstGeom prst="rect">
            <a:avLst/>
          </a:prstGeom>
          <a:noFill/>
        </p:spPr>
        <p:txBody>
          <a:bodyPr wrap="square" lIns="0" rIns="0" tIns="0" bIns="0">
            <a:spAutoFit/>
          </a:bodyPr>
          <a:lstStyle/>
          <a:p>
            <a:pPr algn="l">
              <a:lnSpc>
                <a:spcPct val="130000"/>
              </a:lnSpc>
              <a:spcAft>
                <a:spcPts val="400"/>
              </a:spcAft>
            </a:pPr>
            <a:r>
              <a:rPr sz="1150" b="0" i="0">
                <a:solidFill>
                  <a:srgbClr val="262626"/>
                </a:solidFill>
                <a:latin typeface="Calibri"/>
              </a:rPr>
              <a:t>Reg. (EU) 2019/777, amended by (EU) 2023/1694 — RINF</a:t>
            </a:r>
          </a:p>
          <a:p>
            <a:pPr algn="l">
              <a:lnSpc>
                <a:spcPct val="130000"/>
              </a:lnSpc>
              <a:spcAft>
                <a:spcPts val="400"/>
              </a:spcAft>
            </a:pPr>
            <a:r>
              <a:rPr sz="1150" b="0" i="0">
                <a:solidFill>
                  <a:srgbClr val="262626"/>
                </a:solidFill>
                <a:latin typeface="Calibri"/>
              </a:rPr>
              <a:t>Decision 2011/665/EU; Reg. (EU) 2019/776 — ERATV</a:t>
            </a:r>
          </a:p>
          <a:p>
            <a:pPr algn="l">
              <a:lnSpc>
                <a:spcPct val="130000"/>
              </a:lnSpc>
              <a:spcAft>
                <a:spcPts val="400"/>
              </a:spcAft>
            </a:pPr>
            <a:r>
              <a:rPr sz="1150" b="0" i="0">
                <a:solidFill>
                  <a:srgbClr val="262626"/>
                </a:solidFill>
                <a:latin typeface="Calibri"/>
              </a:rPr>
              <a:t>Reg. (EU) 2023/1695; Decision (EU) 2018/1614 — EVR</a:t>
            </a:r>
          </a:p>
          <a:p>
            <a:pPr algn="l">
              <a:lnSpc>
                <a:spcPct val="130000"/>
              </a:lnSpc>
              <a:spcAft>
                <a:spcPts val="400"/>
              </a:spcAft>
            </a:pPr>
            <a:r>
              <a:rPr sz="1150" b="0" i="0">
                <a:solidFill>
                  <a:srgbClr val="262626"/>
                </a:solidFill>
                <a:latin typeface="Calibri"/>
              </a:rPr>
              <a:t>Dir. (EU) 2016/797 and 2016/798; Reg. (EU) 2016/796 — ERADIS</a:t>
            </a:r>
          </a:p>
          <a:p>
            <a:pPr algn="l">
              <a:lnSpc>
                <a:spcPct val="130000"/>
              </a:lnSpc>
              <a:spcAft>
                <a:spcPts val="400"/>
              </a:spcAft>
            </a:pPr>
            <a:r>
              <a:rPr sz="1150" b="0" i="0">
                <a:solidFill>
                  <a:srgbClr val="262626"/>
                </a:solidFill>
                <a:latin typeface="Calibri"/>
              </a:rPr>
              <a:t>Interoperable Europe Portal — ERA Vocabulary solution</a:t>
            </a:r>
          </a:p>
          <a:p>
            <a:pPr algn="l">
              <a:lnSpc>
                <a:spcPct val="130000"/>
              </a:lnSpc>
              <a:spcAft>
                <a:spcPts val="400"/>
              </a:spcAft>
            </a:pPr>
            <a:r>
              <a:rPr sz="1150" b="0" i="0">
                <a:solidFill>
                  <a:srgbClr val="262626"/>
                </a:solidFill>
                <a:latin typeface="Calibri"/>
              </a:rPr>
              <a:t>Repository — gitlab.com/era-europa-eu/public/interoperable-data-programme</a:t>
            </a:r>
          </a:p>
          <a:p>
            <a:pPr algn="l">
              <a:lnSpc>
                <a:spcPct val="130000"/>
              </a:lnSpc>
              <a:spcAft>
                <a:spcPts val="400"/>
              </a:spcAft>
            </a:pPr>
            <a:r>
              <a:rPr sz="1150" b="0" i="0">
                <a:solidFill>
                  <a:srgbClr val="262626"/>
                </a:solidFill>
                <a:latin typeface="Calibri"/>
              </a:rPr>
              <a:t>Logo: ERA-rgb-300dpi.jpg, Wikimedia Commons, public domain, by ERA</a:t>
            </a:r>
          </a:p>
        </p:txBody>
      </p:sp>
      <p:sp>
        <p:nvSpPr>
          <p:cNvPr id="13" name="TextBox 12"/>
          <p:cNvSpPr txBox="1"/>
          <p:nvPr/>
        </p:nvSpPr>
        <p:spPr>
          <a:xfrm>
            <a:off x="566928" y="6382512"/>
            <a:ext cx="8686800" cy="274320"/>
          </a:xfrm>
          <a:prstGeom prst="rect">
            <a:avLst/>
          </a:prstGeom>
          <a:noFill/>
        </p:spPr>
        <p:txBody>
          <a:bodyPr wrap="square" lIns="0" rIns="0" tIns="0" bIns="0">
            <a:spAutoFit/>
          </a:bodyPr>
          <a:lstStyle/>
          <a:p>
            <a:pPr algn="l">
              <a:lnSpc>
                <a:spcPct val="125000"/>
              </a:lnSpc>
              <a:spcAft>
                <a:spcPts val="600"/>
              </a:spcAft>
            </a:pPr>
            <a:r>
              <a:rPr sz="950" b="0" i="0">
                <a:solidFill>
                  <a:srgbClr val="8A93A6"/>
                </a:solidFill>
                <a:latin typeface="Calibri"/>
              </a:rPr>
              <a:t>Full answers: gatemezing.github.io/onto-dissemination/interopable-eu-portal-answers.html</a:t>
            </a:r>
          </a:p>
        </p:txBody>
      </p:sp>
      <p:sp>
        <p:nvSpPr>
          <p:cNvPr id="14" name="TextBox 13"/>
          <p:cNvSpPr txBox="1"/>
          <p:nvPr/>
        </p:nvSpPr>
        <p:spPr>
          <a:xfrm>
            <a:off x="10972800" y="6382512"/>
            <a:ext cx="640080" cy="274320"/>
          </a:xfrm>
          <a:prstGeom prst="rect">
            <a:avLst/>
          </a:prstGeom>
          <a:noFill/>
        </p:spPr>
        <p:txBody>
          <a:bodyPr wrap="square" lIns="0" rIns="0" tIns="0" bIns="0">
            <a:spAutoFit/>
          </a:bodyPr>
          <a:lstStyle/>
          <a:p>
            <a:pPr algn="r">
              <a:lnSpc>
                <a:spcPct val="125000"/>
              </a:lnSpc>
              <a:spcAft>
                <a:spcPts val="600"/>
              </a:spcAft>
            </a:pPr>
            <a:r>
              <a:rPr sz="950" b="0" i="0">
                <a:solidFill>
                  <a:srgbClr val="8A93A6"/>
                </a:solidFill>
                <a:latin typeface="Calibri"/>
              </a:rPr>
              <a:t>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